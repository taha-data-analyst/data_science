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8" r:id="rId11"/>
    <p:sldId id="269" r:id="rId12"/>
    <p:sldId id="270" r:id="rId13"/>
    <p:sldId id="271" r:id="rId14"/>
    <p:sldId id="272" r:id="rId15"/>
    <p:sldId id="277" r:id="rId16"/>
    <p:sldId id="273" r:id="rId17"/>
    <p:sldId id="274" r:id="rId18"/>
    <p:sldId id="275" r:id="rId19"/>
    <p:sldId id="276" r:id="rId20"/>
    <p:sldId id="281" r:id="rId21"/>
    <p:sldId id="283" r:id="rId22"/>
    <p:sldId id="284" r:id="rId23"/>
    <p:sldId id="285" r:id="rId24"/>
    <p:sldId id="282" r:id="rId25"/>
    <p:sldId id="278" r:id="rId26"/>
    <p:sldId id="279" r:id="rId27"/>
    <p:sldId id="280" r:id="rId28"/>
    <p:sldId id="286" r:id="rId29"/>
    <p:sldId id="287" r:id="rId30"/>
    <p:sldId id="28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76" autoAdjust="0"/>
    <p:restoredTop sz="94660"/>
  </p:normalViewPr>
  <p:slideViewPr>
    <p:cSldViewPr snapToGrid="0">
      <p:cViewPr varScale="1">
        <p:scale>
          <a:sx n="72" d="100"/>
          <a:sy n="72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New%20folder\Task%202%20PPT\Query%202%20&#8212;%20Top%2010%20Delayed%20Routes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New%20folder\Task%203%20PPT\Query%203%20&#8212;%20Rank%20Orders%20by%20Warehouse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New%20folder\Task%203%20PPT\Task%203.3%20Find%20routes%20delayed%20shipments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New%20folder\Task%203%20PPT\Task%204.1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New%20folder\Task%203%20PPT\Task%204.2.csv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New%20folder\Task%203%20PPT\Task%204.4.csv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New%20folder\Task%203%20PPT\Task%205.2.csv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New%20folder\Task%203%20PPT\Task%205.3.csv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New%20folder\Task%203%20PPT\Task%206.2.csv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New%20folder\Task%203%20PPT\Task%207.1.csv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New%20folder\Task%203%20PPT\Task%207.2.csv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New%20folder\Task%203%20PPT\Task%207.3.csv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[Query 2 — Top 10 Delayed Routes.csv]Sheet1!PivotTable1</c:name>
    <c:fmtId val="3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0120317979658507"/>
          <c:y val="8.8966752718598496E-2"/>
          <c:w val="0.8376550743657043"/>
          <c:h val="0.7435032079323418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8"/>
                <c:pt idx="0">
                  <c:v>0.6875</c:v>
                </c:pt>
                <c:pt idx="1">
                  <c:v>0.7</c:v>
                </c:pt>
                <c:pt idx="2">
                  <c:v>0.7647</c:v>
                </c:pt>
                <c:pt idx="3">
                  <c:v>0.8</c:v>
                </c:pt>
                <c:pt idx="4">
                  <c:v>1</c:v>
                </c:pt>
                <c:pt idx="5">
                  <c:v>1.0588</c:v>
                </c:pt>
                <c:pt idx="6">
                  <c:v>1.0833</c:v>
                </c:pt>
                <c:pt idx="7">
                  <c:v>(blank)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8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16-4C6C-98E1-86CB8B766BF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1379856944"/>
        <c:axId val="1379851536"/>
      </c:barChart>
      <c:catAx>
        <c:axId val="137985694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baseline="0"/>
                  <a:t>Route_ID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9851536"/>
        <c:crosses val="autoZero"/>
        <c:auto val="1"/>
        <c:lblAlgn val="ctr"/>
        <c:lblOffset val="100"/>
        <c:noMultiLvlLbl val="0"/>
      </c:catAx>
      <c:valAx>
        <c:axId val="1379851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baseline="0"/>
                  <a:t>Average Delay Days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9856944"/>
        <c:crosses val="autoZero"/>
        <c:crossBetween val="between"/>
      </c:valAx>
      <c:spPr>
        <a:solidFill>
          <a:schemeClr val="bg1"/>
        </a:solidFill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accent1">
        <a:lumMod val="20000"/>
        <a:lumOff val="80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[Query 3 — Rank Orders by Warehouse.csv]Query 3 — Rank Orders by Wareho!PivotTable1</c:name>
    <c:fmtId val="7"/>
  </c:pivotSource>
  <c:chart>
    <c:autoTitleDeleted val="1"/>
    <c:pivotFmts>
      <c:pivotFmt>
        <c:idx val="0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circle"/>
          <c:size val="6"/>
          <c:spPr>
            <a:solidFill>
              <a:schemeClr val="accent1">
                <a:alpha val="85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'Query 3 — Rank Orders by Wareho'!$D$11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'Query 3 — Rank Orders by Wareho'!$C$12:$C$15</c:f>
              <c:strCache>
                <c:ptCount val="3"/>
                <c:pt idx="0">
                  <c:v>R006</c:v>
                </c:pt>
                <c:pt idx="1">
                  <c:v>R008</c:v>
                </c:pt>
                <c:pt idx="2">
                  <c:v>R016</c:v>
                </c:pt>
              </c:strCache>
            </c:strRef>
          </c:cat>
          <c:val>
            <c:numRef>
              <c:f>'Query 3 — Rank Orders by Wareho'!$D$12:$D$15</c:f>
              <c:numCache>
                <c:formatCode>General</c:formatCode>
                <c:ptCount val="3"/>
                <c:pt idx="0">
                  <c:v>0.16065573770491801</c:v>
                </c:pt>
                <c:pt idx="1">
                  <c:v>0.243720930232558</c:v>
                </c:pt>
                <c:pt idx="2">
                  <c:v>0.15120481927710799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98-40B8-9DD2-2EE8E0477A4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8845840"/>
        <c:axId val="28840432"/>
      </c:barChart>
      <c:catAx>
        <c:axId val="2884584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900" b="1" i="0" u="none" strike="noStrike" baseline="0"/>
                  <a:t>Route_ID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840432"/>
        <c:crosses val="autoZero"/>
        <c:auto val="1"/>
        <c:lblAlgn val="ctr"/>
        <c:lblOffset val="100"/>
        <c:noMultiLvlLbl val="0"/>
      </c:catAx>
      <c:valAx>
        <c:axId val="28840432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900" b="1" i="0" u="none" strike="noStrike" baseline="0"/>
                  <a:t>Efficiency Ratio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288458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[Task 3.3 Find routes delayed shipments.csv]Sheet1!PivotTable1</c:name>
    <c:fmtId val="6"/>
  </c:pivotSource>
  <c:chart>
    <c:autoTitleDeleted val="1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Sheet1!$A$2:$A$22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0"/>
                <c:pt idx="0">
                  <c:v>40</c:v>
                </c:pt>
                <c:pt idx="1">
                  <c:v>31.818200000000001</c:v>
                </c:pt>
                <c:pt idx="2">
                  <c:v>40</c:v>
                </c:pt>
                <c:pt idx="3">
                  <c:v>50</c:v>
                </c:pt>
                <c:pt idx="4">
                  <c:v>46.666699999999999</c:v>
                </c:pt>
                <c:pt idx="5">
                  <c:v>36.363599999999998</c:v>
                </c:pt>
                <c:pt idx="6">
                  <c:v>43.75</c:v>
                </c:pt>
                <c:pt idx="7">
                  <c:v>31.25</c:v>
                </c:pt>
                <c:pt idx="8">
                  <c:v>37.5</c:v>
                </c:pt>
                <c:pt idx="9">
                  <c:v>45</c:v>
                </c:pt>
                <c:pt idx="10">
                  <c:v>45</c:v>
                </c:pt>
                <c:pt idx="11">
                  <c:v>66.666700000000006</c:v>
                </c:pt>
                <c:pt idx="12">
                  <c:v>52.941200000000002</c:v>
                </c:pt>
                <c:pt idx="13">
                  <c:v>38.461500000000001</c:v>
                </c:pt>
                <c:pt idx="14">
                  <c:v>50</c:v>
                </c:pt>
                <c:pt idx="15">
                  <c:v>25</c:v>
                </c:pt>
                <c:pt idx="16">
                  <c:v>57.142899999999997</c:v>
                </c:pt>
                <c:pt idx="17">
                  <c:v>40</c:v>
                </c:pt>
                <c:pt idx="18">
                  <c:v>30.769200000000001</c:v>
                </c:pt>
                <c:pt idx="19">
                  <c:v>70.588200000000001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75-4011-9BC0-F9C2EC51B6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849961280"/>
        <c:axId val="796808976"/>
      </c:barChart>
      <c:catAx>
        <c:axId val="84996128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br>
                  <a:rPr lang="en-US"/>
                </a:br>
                <a:r>
                  <a:rPr lang="en-US"/>
                  <a:t>ROUTE ID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96808976"/>
        <c:crosses val="autoZero"/>
        <c:auto val="1"/>
        <c:lblAlgn val="ctr"/>
        <c:lblOffset val="100"/>
        <c:noMultiLvlLbl val="0"/>
      </c:catAx>
      <c:valAx>
        <c:axId val="796808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DELAY</a:t>
                </a:r>
                <a:r>
                  <a:rPr lang="en-US" baseline="0"/>
                  <a:t> 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9961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[Task 4.1.csv]Sheet1!PivotTable1</c:name>
    <c:fmtId val="3"/>
  </c:pivotSource>
  <c:chart>
    <c:autoTitleDeleted val="1"/>
    <c:pivotFmts>
      <c:pivotFmt>
        <c:idx val="0"/>
        <c:spPr>
          <a:gradFill>
            <a:gsLst>
              <a:gs pos="0">
                <a:schemeClr val="accent1"/>
              </a:gs>
              <a:gs pos="100000">
                <a:schemeClr val="accent1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circle"/>
          <c:size val="6"/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>
            <a:gsLst>
              <a:gs pos="0">
                <a:schemeClr val="accent1"/>
              </a:gs>
              <a:gs pos="100000">
                <a:schemeClr val="accent1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>
            <a:gsLst>
              <a:gs pos="0">
                <a:schemeClr val="accent1"/>
              </a:gs>
              <a:gs pos="100000">
                <a:schemeClr val="accent1">
                  <a:lumMod val="84000"/>
                </a:schemeClr>
              </a:gs>
            </a:gsLst>
            <a:lin ang="5400000" scaled="1"/>
          </a:gra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Base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3"/>
                <c:pt idx="0">
                  <c:v>W007</c:v>
                </c:pt>
                <c:pt idx="1">
                  <c:v>W009</c:v>
                </c:pt>
                <c:pt idx="2">
                  <c:v>W010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3"/>
                <c:pt idx="0">
                  <c:v>166</c:v>
                </c:pt>
                <c:pt idx="1">
                  <c:v>170</c:v>
                </c:pt>
                <c:pt idx="2">
                  <c:v>171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38-4924-9EA7-215933D05AFA}"/>
            </c:ext>
          </c:extLst>
        </c:ser>
        <c:dLbls>
          <c:dLblPos val="inBase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187198767"/>
        <c:axId val="1187193359"/>
      </c:barChart>
      <c:catAx>
        <c:axId val="1187198767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WAREHOUSE</a:t>
                </a:r>
                <a:r>
                  <a:rPr lang="en-US" baseline="0"/>
                  <a:t> ID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7193359"/>
        <c:crosses val="autoZero"/>
        <c:auto val="1"/>
        <c:lblAlgn val="ctr"/>
        <c:lblOffset val="100"/>
        <c:noMultiLvlLbl val="0"/>
      </c:catAx>
      <c:valAx>
        <c:axId val="1187193359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900" b="1" i="0" u="none" strike="noStrike" baseline="0"/>
                  <a:t>Processing_Time_Min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11871987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[Task 4.2.csv]Sheet1!PivotTable1</c:name>
    <c:fmtId val="4"/>
  </c:pivotSource>
  <c:chart>
    <c:autoTitleDeleted val="1"/>
    <c:pivotFmts>
      <c:pivotFmt>
        <c:idx val="0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circle"/>
          <c:size val="6"/>
          <c:spPr>
            <a:solidFill>
              <a:schemeClr val="accent1">
                <a:alpha val="85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0"/>
                <c:pt idx="0">
                  <c:v>W001</c:v>
                </c:pt>
                <c:pt idx="1">
                  <c:v>W002</c:v>
                </c:pt>
                <c:pt idx="2">
                  <c:v>W003</c:v>
                </c:pt>
                <c:pt idx="3">
                  <c:v>W004</c:v>
                </c:pt>
                <c:pt idx="4">
                  <c:v>W005</c:v>
                </c:pt>
                <c:pt idx="5">
                  <c:v>W006</c:v>
                </c:pt>
                <c:pt idx="6">
                  <c:v>W007</c:v>
                </c:pt>
                <c:pt idx="7">
                  <c:v>W008</c:v>
                </c:pt>
                <c:pt idx="8">
                  <c:v>W009</c:v>
                </c:pt>
                <c:pt idx="9">
                  <c:v>W010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0"/>
                <c:pt idx="0">
                  <c:v>18</c:v>
                </c:pt>
                <c:pt idx="1">
                  <c:v>10</c:v>
                </c:pt>
                <c:pt idx="2">
                  <c:v>13</c:v>
                </c:pt>
                <c:pt idx="3">
                  <c:v>12</c:v>
                </c:pt>
                <c:pt idx="4">
                  <c:v>14</c:v>
                </c:pt>
                <c:pt idx="5">
                  <c:v>12</c:v>
                </c:pt>
                <c:pt idx="6">
                  <c:v>15</c:v>
                </c:pt>
                <c:pt idx="7">
                  <c:v>5</c:v>
                </c:pt>
                <c:pt idx="8">
                  <c:v>13</c:v>
                </c:pt>
                <c:pt idx="9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07-49D0-A9E3-F79B19EAD51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549133935"/>
        <c:axId val="1549132687"/>
      </c:barChart>
      <c:catAx>
        <c:axId val="154913393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Warehouse_ID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49132687"/>
        <c:crosses val="autoZero"/>
        <c:auto val="1"/>
        <c:lblAlgn val="ctr"/>
        <c:lblOffset val="100"/>
        <c:noMultiLvlLbl val="0"/>
      </c:catAx>
      <c:valAx>
        <c:axId val="1549132687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delayed_shipment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15491339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[Task 4.4.csv]Sheet1!PivotTable1</c:name>
    <c:fmtId val="3"/>
  </c:pivotSource>
  <c:chart>
    <c:autoTitleDeleted val="1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0"/>
                <c:pt idx="0">
                  <c:v>W001</c:v>
                </c:pt>
                <c:pt idx="1">
                  <c:v>W002</c:v>
                </c:pt>
                <c:pt idx="2">
                  <c:v>W003</c:v>
                </c:pt>
                <c:pt idx="3">
                  <c:v>W004</c:v>
                </c:pt>
                <c:pt idx="4">
                  <c:v>W005</c:v>
                </c:pt>
                <c:pt idx="5">
                  <c:v>W006</c:v>
                </c:pt>
                <c:pt idx="6">
                  <c:v>W007</c:v>
                </c:pt>
                <c:pt idx="7">
                  <c:v>W008</c:v>
                </c:pt>
                <c:pt idx="8">
                  <c:v>W009</c:v>
                </c:pt>
                <c:pt idx="9">
                  <c:v>W010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0"/>
                <c:pt idx="0">
                  <c:v>47.06</c:v>
                </c:pt>
                <c:pt idx="1">
                  <c:v>64.290000000000006</c:v>
                </c:pt>
                <c:pt idx="2">
                  <c:v>43.48</c:v>
                </c:pt>
                <c:pt idx="3">
                  <c:v>61.29</c:v>
                </c:pt>
                <c:pt idx="4">
                  <c:v>44</c:v>
                </c:pt>
                <c:pt idx="5">
                  <c:v>67.569999999999993</c:v>
                </c:pt>
                <c:pt idx="6">
                  <c:v>60.53</c:v>
                </c:pt>
                <c:pt idx="7">
                  <c:v>76.19</c:v>
                </c:pt>
                <c:pt idx="8">
                  <c:v>60.61</c:v>
                </c:pt>
                <c:pt idx="9">
                  <c:v>33.33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2E-42DA-A006-D43291A400C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023212991"/>
        <c:axId val="1023214655"/>
      </c:barChart>
      <c:catAx>
        <c:axId val="102321299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WAREHOUSE ID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3214655"/>
        <c:crosses val="autoZero"/>
        <c:auto val="1"/>
        <c:lblAlgn val="ctr"/>
        <c:lblOffset val="100"/>
        <c:noMultiLvlLbl val="0"/>
      </c:catAx>
      <c:valAx>
        <c:axId val="10232146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On_time_%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321299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[Task 5.2.csv]Sheet1!PivotTable1</c:name>
    <c:fmtId val="6"/>
  </c:pivotSource>
  <c:chart>
    <c:autoTitleDeleted val="1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Sheet1!$A$2:$A$22</c:f>
              <c:strCache>
                <c:ptCount val="20"/>
                <c:pt idx="0">
                  <c:v>A003</c:v>
                </c:pt>
                <c:pt idx="1">
                  <c:v>A008</c:v>
                </c:pt>
                <c:pt idx="2">
                  <c:v>A010</c:v>
                </c:pt>
                <c:pt idx="3">
                  <c:v>A011</c:v>
                </c:pt>
                <c:pt idx="4">
                  <c:v>A016</c:v>
                </c:pt>
                <c:pt idx="5">
                  <c:v>A018</c:v>
                </c:pt>
                <c:pt idx="6">
                  <c:v>A020</c:v>
                </c:pt>
                <c:pt idx="7">
                  <c:v>A023</c:v>
                </c:pt>
                <c:pt idx="8">
                  <c:v>A027</c:v>
                </c:pt>
                <c:pt idx="9">
                  <c:v>A028</c:v>
                </c:pt>
                <c:pt idx="10">
                  <c:v>A030</c:v>
                </c:pt>
                <c:pt idx="11">
                  <c:v>A035</c:v>
                </c:pt>
                <c:pt idx="12">
                  <c:v>A037</c:v>
                </c:pt>
                <c:pt idx="13">
                  <c:v>A038</c:v>
                </c:pt>
                <c:pt idx="14">
                  <c:v>A039</c:v>
                </c:pt>
                <c:pt idx="15">
                  <c:v>A040</c:v>
                </c:pt>
                <c:pt idx="16">
                  <c:v>A043</c:v>
                </c:pt>
                <c:pt idx="17">
                  <c:v>A046</c:v>
                </c:pt>
                <c:pt idx="18">
                  <c:v>A048</c:v>
                </c:pt>
                <c:pt idx="19">
                  <c:v>A050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0"/>
                <c:pt idx="0">
                  <c:v>74.150000000000006</c:v>
                </c:pt>
                <c:pt idx="1">
                  <c:v>72.39</c:v>
                </c:pt>
                <c:pt idx="2">
                  <c:v>70.45</c:v>
                </c:pt>
                <c:pt idx="3">
                  <c:v>71.5</c:v>
                </c:pt>
                <c:pt idx="4">
                  <c:v>78.39</c:v>
                </c:pt>
                <c:pt idx="5">
                  <c:v>73.209999999999994</c:v>
                </c:pt>
                <c:pt idx="6">
                  <c:v>77.650000000000006</c:v>
                </c:pt>
                <c:pt idx="7">
                  <c:v>74.209999999999994</c:v>
                </c:pt>
                <c:pt idx="8">
                  <c:v>73.8</c:v>
                </c:pt>
                <c:pt idx="9">
                  <c:v>74.47</c:v>
                </c:pt>
                <c:pt idx="10">
                  <c:v>76.599999999999994</c:v>
                </c:pt>
                <c:pt idx="11">
                  <c:v>74.5</c:v>
                </c:pt>
                <c:pt idx="12">
                  <c:v>78.94</c:v>
                </c:pt>
                <c:pt idx="13">
                  <c:v>71.8</c:v>
                </c:pt>
                <c:pt idx="14">
                  <c:v>72.599999999999994</c:v>
                </c:pt>
                <c:pt idx="15">
                  <c:v>77.83</c:v>
                </c:pt>
                <c:pt idx="16">
                  <c:v>79.510000000000005</c:v>
                </c:pt>
                <c:pt idx="17">
                  <c:v>75.459999999999994</c:v>
                </c:pt>
                <c:pt idx="18">
                  <c:v>77.92</c:v>
                </c:pt>
                <c:pt idx="19">
                  <c:v>72.75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1E-4C4D-AFC5-60B57AC006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491234112"/>
        <c:axId val="491230784"/>
      </c:barChart>
      <c:catAx>
        <c:axId val="49123411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AGENT</a:t>
                </a:r>
                <a:r>
                  <a:rPr lang="en-US" baseline="0"/>
                  <a:t> ID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1230784"/>
        <c:crosses val="autoZero"/>
        <c:auto val="1"/>
        <c:lblAlgn val="ctr"/>
        <c:lblOffset val="100"/>
        <c:noMultiLvlLbl val="0"/>
      </c:catAx>
      <c:valAx>
        <c:axId val="4912307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ON_TIME_%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1234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[Task 5.3.csv]Sheet1!PivotTable1</c:name>
    <c:fmtId val="3"/>
  </c:pivotSource>
  <c:chart>
    <c:autoTitleDeleted val="1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diamond"/>
          <c:size val="5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1"/>
                <c:pt idx="0">
                  <c:v>78.8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1"/>
                <c:pt idx="0">
                  <c:v>33.6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E6-4709-9FDE-23A9CAED803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15"/>
        <c:overlap val="-20"/>
        <c:axId val="2111362592"/>
        <c:axId val="20478336"/>
      </c:barChart>
      <c:catAx>
        <c:axId val="211136259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AVG_BOTTOM_SPEED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478336"/>
        <c:crosses val="autoZero"/>
        <c:auto val="1"/>
        <c:lblAlgn val="ctr"/>
        <c:lblOffset val="100"/>
        <c:noMultiLvlLbl val="0"/>
      </c:catAx>
      <c:valAx>
        <c:axId val="204783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AVG_TOP_SPEED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11362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Delay Reasons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'Task 6.2'!$B$1</c:f>
              <c:strCache>
                <c:ptCount val="1"/>
                <c:pt idx="0">
                  <c:v>delay_count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6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D007-40DE-B9C3-2E6B7867503D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D007-40DE-B9C3-2E6B7867503D}"/>
              </c:ext>
            </c:extLst>
          </c:dPt>
          <c:dPt>
            <c:idx val="2"/>
            <c:bubble3D val="0"/>
            <c:spPr>
              <a:solidFill>
                <a:schemeClr val="accent1">
                  <a:tint val="65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5-D007-40DE-B9C3-2E6B7867503D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'Task 6.2'!$A$2:$A$4</c:f>
              <c:strCache>
                <c:ptCount val="3"/>
                <c:pt idx="0">
                  <c:v>Sorting Delay</c:v>
                </c:pt>
                <c:pt idx="1">
                  <c:v>Weather</c:v>
                </c:pt>
                <c:pt idx="2">
                  <c:v>Traffic</c:v>
                </c:pt>
              </c:strCache>
            </c:strRef>
          </c:cat>
          <c:val>
            <c:numRef>
              <c:f>'Task 6.2'!$B$2:$B$4</c:f>
              <c:numCache>
                <c:formatCode>General</c:formatCode>
                <c:ptCount val="3"/>
                <c:pt idx="0">
                  <c:v>272</c:v>
                </c:pt>
                <c:pt idx="1">
                  <c:v>263</c:v>
                </c:pt>
                <c:pt idx="2">
                  <c:v>247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007-40DE-B9C3-2E6B786750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2374475065616783"/>
          <c:y val="0.3804389034703996"/>
          <c:w val="0.25958858267716539"/>
          <c:h val="0.30845071449402156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[Task 7.1.csv]Sheet1!PivotTable1</c:name>
    <c:fmtId val="4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Sheet1!$A$2:$A$22</c:f>
              <c:strCache>
                <c:ptCount val="20"/>
                <c:pt idx="0">
                  <c:v>Aaronhaven</c:v>
                </c:pt>
                <c:pt idx="1">
                  <c:v>Bellfurt</c:v>
                </c:pt>
                <c:pt idx="2">
                  <c:v>East Amy</c:v>
                </c:pt>
                <c:pt idx="3">
                  <c:v>Juliestad</c:v>
                </c:pt>
                <c:pt idx="4">
                  <c:v>Lake Jessicastad</c:v>
                </c:pt>
                <c:pt idx="5">
                  <c:v>Lake Kathrynchester</c:v>
                </c:pt>
                <c:pt idx="6">
                  <c:v>Lake Oscarfurt</c:v>
                </c:pt>
                <c:pt idx="7">
                  <c:v>Lake Robinhaven</c:v>
                </c:pt>
                <c:pt idx="8">
                  <c:v>Lowemouth</c:v>
                </c:pt>
                <c:pt idx="9">
                  <c:v>New Aimeechester</c:v>
                </c:pt>
                <c:pt idx="10">
                  <c:v>New Jessica</c:v>
                </c:pt>
                <c:pt idx="11">
                  <c:v>North Aliceside</c:v>
                </c:pt>
                <c:pt idx="12">
                  <c:v>North Edward</c:v>
                </c:pt>
                <c:pt idx="13">
                  <c:v>Port Tammybury</c:v>
                </c:pt>
                <c:pt idx="14">
                  <c:v>Ramosside</c:v>
                </c:pt>
                <c:pt idx="15">
                  <c:v>South Brianchester</c:v>
                </c:pt>
                <c:pt idx="16">
                  <c:v>South Davidborough</c:v>
                </c:pt>
                <c:pt idx="17">
                  <c:v>South Jenniferfurt</c:v>
                </c:pt>
                <c:pt idx="18">
                  <c:v>South Johnville</c:v>
                </c:pt>
                <c:pt idx="19">
                  <c:v>West Calvinview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0"/>
                <c:pt idx="0">
                  <c:v>0.6875</c:v>
                </c:pt>
                <c:pt idx="1">
                  <c:v>0.5</c:v>
                </c:pt>
                <c:pt idx="2">
                  <c:v>0.5</c:v>
                </c:pt>
                <c:pt idx="3">
                  <c:v>1.0588</c:v>
                </c:pt>
                <c:pt idx="4">
                  <c:v>0.4667</c:v>
                </c:pt>
                <c:pt idx="5">
                  <c:v>0.41670000000000001</c:v>
                </c:pt>
                <c:pt idx="6">
                  <c:v>0.61539999999999995</c:v>
                </c:pt>
                <c:pt idx="7">
                  <c:v>0.54549999999999998</c:v>
                </c:pt>
                <c:pt idx="8">
                  <c:v>0.7</c:v>
                </c:pt>
                <c:pt idx="9">
                  <c:v>0.66669999999999996</c:v>
                </c:pt>
                <c:pt idx="10">
                  <c:v>0.8</c:v>
                </c:pt>
                <c:pt idx="11">
                  <c:v>0.7</c:v>
                </c:pt>
                <c:pt idx="12">
                  <c:v>0.61539999999999995</c:v>
                </c:pt>
                <c:pt idx="13">
                  <c:v>1</c:v>
                </c:pt>
                <c:pt idx="14">
                  <c:v>0.8</c:v>
                </c:pt>
                <c:pt idx="15">
                  <c:v>0.5</c:v>
                </c:pt>
                <c:pt idx="16">
                  <c:v>0.4375</c:v>
                </c:pt>
                <c:pt idx="17">
                  <c:v>1</c:v>
                </c:pt>
                <c:pt idx="18">
                  <c:v>0.76470000000000005</c:v>
                </c:pt>
                <c:pt idx="19">
                  <c:v>1.0832999999999999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65-4C52-89D2-9B3E166BB4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289482768"/>
        <c:axId val="289481936"/>
      </c:barChart>
      <c:catAx>
        <c:axId val="28948276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Region (Start Location)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9481936"/>
        <c:crosses val="autoZero"/>
        <c:auto val="1"/>
        <c:lblAlgn val="ctr"/>
        <c:lblOffset val="100"/>
        <c:noMultiLvlLbl val="0"/>
      </c:catAx>
      <c:valAx>
        <c:axId val="289481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Avg Delivery Delay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94827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Overall On-Time Delivery Percentage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2.6553311713070654E-2"/>
          <c:y val="0.15151802826437116"/>
          <c:w val="0.72442053146919072"/>
          <c:h val="0.80877508078519023"/>
        </c:manualLayout>
      </c:layout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5">
                  <a:shade val="76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CB57-4526-AE78-1C557C87D9A7}"/>
              </c:ext>
            </c:extLst>
          </c:dPt>
          <c:dPt>
            <c:idx val="1"/>
            <c:bubble3D val="0"/>
            <c:spPr>
              <a:solidFill>
                <a:schemeClr val="accent5">
                  <a:tint val="77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CB57-4526-AE78-1C557C87D9A7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('Task 7.2'!$B$1,'Task 7.2'!$D$1)</c:f>
              <c:strCache>
                <c:ptCount val="2"/>
                <c:pt idx="0">
                  <c:v>on_time_deliveries</c:v>
                </c:pt>
                <c:pt idx="1">
                  <c:v>Delayed_Deliveries</c:v>
                </c:pt>
              </c:strCache>
              <c:extLst/>
            </c:strRef>
          </c:cat>
          <c:val>
            <c:numRef>
              <c:f>('Task 7.2'!$B$2,'Task 7.2'!$D$2)</c:f>
              <c:numCache>
                <c:formatCode>General</c:formatCode>
                <c:ptCount val="2"/>
                <c:pt idx="0">
                  <c:v>168</c:v>
                </c:pt>
                <c:pt idx="1">
                  <c:v>132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4-CB57-4526-AE78-1C557C87D9A7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2732830271216109"/>
          <c:y val="0.46579797317002031"/>
          <c:w val="0.25600503062117236"/>
          <c:h val="0.18402887139107613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[Task 7.3.csv]Sheet1!PivotTable1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/>
              <a:t>Average Traffic Delay per Route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circle"/>
          <c:size val="6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 w="9525">
              <a:solidFill>
                <a:schemeClr val="accent1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gradFill rotWithShape="1">
            <a:gsLst>
              <a:gs pos="0">
                <a:schemeClr val="accent1">
                  <a:satMod val="103000"/>
                  <a:lumMod val="102000"/>
                  <a:tint val="94000"/>
                </a:schemeClr>
              </a:gs>
              <a:gs pos="50000">
                <a:schemeClr val="accent1">
                  <a:satMod val="110000"/>
                  <a:lumMod val="100000"/>
                  <a:shade val="100000"/>
                </a:schemeClr>
              </a:gs>
              <a:gs pos="100000">
                <a:schemeClr val="accent1">
                  <a:lumMod val="99000"/>
                  <a:satMod val="120000"/>
                  <a:shade val="78000"/>
                </a:scheme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Sheet1!$A$2:$A$22</c:f>
              <c:strCache>
                <c:ptCount val="20"/>
                <c:pt idx="0">
                  <c:v>R001</c:v>
                </c:pt>
                <c:pt idx="1">
                  <c:v>R002</c:v>
                </c:pt>
                <c:pt idx="2">
                  <c:v>R003</c:v>
                </c:pt>
                <c:pt idx="3">
                  <c:v>R004</c:v>
                </c:pt>
                <c:pt idx="4">
                  <c:v>R005</c:v>
                </c:pt>
                <c:pt idx="5">
                  <c:v>R006</c:v>
                </c:pt>
                <c:pt idx="6">
                  <c:v>R007</c:v>
                </c:pt>
                <c:pt idx="7">
                  <c:v>R008</c:v>
                </c:pt>
                <c:pt idx="8">
                  <c:v>R009</c:v>
                </c:pt>
                <c:pt idx="9">
                  <c:v>R010</c:v>
                </c:pt>
                <c:pt idx="10">
                  <c:v>R011</c:v>
                </c:pt>
                <c:pt idx="11">
                  <c:v>R012</c:v>
                </c:pt>
                <c:pt idx="12">
                  <c:v>R013</c:v>
                </c:pt>
                <c:pt idx="13">
                  <c:v>R014</c:v>
                </c:pt>
                <c:pt idx="14">
                  <c:v>R015</c:v>
                </c:pt>
                <c:pt idx="15">
                  <c:v>R016</c:v>
                </c:pt>
                <c:pt idx="16">
                  <c:v>R017</c:v>
                </c:pt>
                <c:pt idx="17">
                  <c:v>R018</c:v>
                </c:pt>
                <c:pt idx="18">
                  <c:v>R019</c:v>
                </c:pt>
                <c:pt idx="19">
                  <c:v>R020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0"/>
                <c:pt idx="0">
                  <c:v>36</c:v>
                </c:pt>
                <c:pt idx="1">
                  <c:v>22</c:v>
                </c:pt>
                <c:pt idx="2">
                  <c:v>11</c:v>
                </c:pt>
                <c:pt idx="3">
                  <c:v>3</c:v>
                </c:pt>
                <c:pt idx="4">
                  <c:v>26</c:v>
                </c:pt>
                <c:pt idx="5">
                  <c:v>42</c:v>
                </c:pt>
                <c:pt idx="6">
                  <c:v>51</c:v>
                </c:pt>
                <c:pt idx="7">
                  <c:v>34</c:v>
                </c:pt>
                <c:pt idx="8">
                  <c:v>46</c:v>
                </c:pt>
                <c:pt idx="9">
                  <c:v>40</c:v>
                </c:pt>
                <c:pt idx="10">
                  <c:v>25</c:v>
                </c:pt>
                <c:pt idx="11">
                  <c:v>29</c:v>
                </c:pt>
                <c:pt idx="12">
                  <c:v>38</c:v>
                </c:pt>
                <c:pt idx="13">
                  <c:v>58</c:v>
                </c:pt>
                <c:pt idx="14">
                  <c:v>29</c:v>
                </c:pt>
                <c:pt idx="15">
                  <c:v>8</c:v>
                </c:pt>
                <c:pt idx="16">
                  <c:v>8</c:v>
                </c:pt>
                <c:pt idx="17">
                  <c:v>11</c:v>
                </c:pt>
                <c:pt idx="18">
                  <c:v>37</c:v>
                </c:pt>
                <c:pt idx="19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F3-4E67-82BD-2864082F435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430868271"/>
        <c:axId val="1430869103"/>
      </c:barChart>
      <c:catAx>
        <c:axId val="143086827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ROUTE</a:t>
                </a:r>
                <a:r>
                  <a:rPr lang="en-US" baseline="0"/>
                  <a:t> ID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0869103"/>
        <c:crosses val="autoZero"/>
        <c:auto val="1"/>
        <c:lblAlgn val="ctr"/>
        <c:lblOffset val="100"/>
        <c:noMultiLvlLbl val="0"/>
      </c:catAx>
      <c:valAx>
        <c:axId val="1430869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cap="all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AVG_TRAFFIC_DELAY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cap="all" baseline="0">
                  <a:solidFill>
                    <a:schemeClr val="lt1">
                      <a:lumMod val="8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308682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42CDC-20F0-4B1B-8E34-1A331D0522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20A8E9-237B-4A51-BEA9-8022192BE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618146-BAD1-4F26-B56B-2931ED6FA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5350A-8464-48C7-AD0E-CB767F0754A3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2713B-153C-4262-B08F-53DD3F67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718EC-BB10-4E30-A2B5-C92FC24F1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223A-DA61-47DE-86E7-4C47C4B9CB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709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8120A-9D7B-41CB-8138-1229BEF52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92B42-0AC1-41E9-8B68-AE4B6A0FE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76776-47A8-4036-8587-2AEC70FE5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5350A-8464-48C7-AD0E-CB767F0754A3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EF2AD-37BF-4F99-A534-88964CF10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DC02C-0E78-4607-9438-708F09E4D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223A-DA61-47DE-86E7-4C47C4B9CB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09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20FFA-81CB-4B94-A48A-5D403EE8B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25D6D-0CB1-404C-8341-CAB8334EA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41C55-F355-498D-B062-7D33DF192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5350A-8464-48C7-AD0E-CB767F0754A3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7B621-AD7C-4CCA-915A-D575E0158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7D6BA-4D97-4096-B1D3-194CA16ED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223A-DA61-47DE-86E7-4C47C4B9CB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94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4268D-3913-4CA8-9D82-3D4A14B37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715E7-2092-455D-9D0E-3A3D86B822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2445E6-3EB2-4802-967A-B064F257BA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CD664-40C0-4A8A-98A6-1BD575FB0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5350A-8464-48C7-AD0E-CB767F0754A3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9A896-C6C7-4950-9003-4E98A3D87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DB1D7-F8DA-4453-9E54-10879377B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223A-DA61-47DE-86E7-4C47C4B9CB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435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63CA2-6035-49BB-A3B9-DE2876D94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3DCB7-A131-44A9-87AF-94CBE2C5A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4EEB41-5FE5-4C50-A53F-B462E5507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38D620-B9A9-440F-8161-2E4F9569F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AC252C-5E8A-4ADE-9072-1F93E34A9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58614C-5C26-471B-A381-8556F58E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5350A-8464-48C7-AD0E-CB767F0754A3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D038ED-3385-4E54-93F0-601FD91B9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6A443A-1BF1-45D0-8CB4-B3288A2DF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223A-DA61-47DE-86E7-4C47C4B9CB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207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92DA2-FB30-47F6-B159-471AE2C17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3B91DA-CE89-4699-A84B-B80C3A479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5350A-8464-48C7-AD0E-CB767F0754A3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D21445-78C6-489B-A3AC-B4CF20CD2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1753A5-E978-466E-951C-BAFE1B2E2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223A-DA61-47DE-86E7-4C47C4B9CB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303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E3ED1C-5A49-4B96-AA9E-5F7F46CF1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5350A-8464-48C7-AD0E-CB767F0754A3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F21193-6A68-46B2-86ED-0D2B3D34C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F4A901-9332-41C4-B5BF-59A63D1BC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223A-DA61-47DE-86E7-4C47C4B9CB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595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538BF-54A7-49FC-BEA5-B962C0E59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45BE6-4373-450E-921C-FA6B3916B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0288B6-AE1F-4666-9983-514056C30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EE11C-5F68-4EEA-A33E-F5B54F3CE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5350A-8464-48C7-AD0E-CB767F0754A3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8F73AF-9E72-49C0-8220-581D16843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D0609-6A7F-4D46-AE9E-287A8D009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223A-DA61-47DE-86E7-4C47C4B9CB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7797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6F530-B99D-4BF2-9F2E-EDE674CA0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1A18F7-CD2E-463F-B6FD-6DE53751AD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6AD30-DDA0-4827-B256-5A6B399918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DE3B7-5F8A-43E8-AAC5-A397FB335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5350A-8464-48C7-AD0E-CB767F0754A3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A1B8-4E71-4E75-B3E2-CA2D1D4AA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7D834-805C-4ED9-93AB-D132628E3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223A-DA61-47DE-86E7-4C47C4B9CB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931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4D6CA-9A30-493A-AE51-E5C3850E1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723FA-E096-4E27-9AD1-069A4F2D06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97B9B-F077-4BEB-BEC8-7B4633C42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5350A-8464-48C7-AD0E-CB767F0754A3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60E64-B584-45E7-8188-EDBE1452A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1C641-9556-4F47-84ED-FE26BC8D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223A-DA61-47DE-86E7-4C47C4B9CB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632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E81AB0-42FE-46E4-ABC1-56A45E2D38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7C48D-5297-4E62-9E18-E75786AD3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22EF5-6E92-435E-8DFF-371E8C0DA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5350A-8464-48C7-AD0E-CB767F0754A3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7EAF7-F132-4AFF-BE50-98691842D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7E485-AFE5-457A-B3D7-7F33CF8CE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9223A-DA61-47DE-86E7-4C47C4B9CB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001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870DA6-B006-4AC5-8CDC-38351DD9D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4945A-8186-4F18-8B62-92B154109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94718-50B9-4E94-B680-02914CF5E6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5350A-8464-48C7-AD0E-CB767F0754A3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430DF-F369-4903-B6D1-B3046EA623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0F9D1-124B-4049-B9BF-F21E11274C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39223A-DA61-47DE-86E7-4C47C4B9CB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062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oom.com/share/94d5e8e3d5ae43d2b9775877613f55ac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0781E-FE37-4E10-9495-832BF3DF8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561741"/>
          </a:xfrm>
        </p:spPr>
        <p:txBody>
          <a:bodyPr/>
          <a:lstStyle/>
          <a:p>
            <a:r>
              <a:rPr lang="en-US" dirty="0">
                <a:latin typeface="Bernard MT Condensed" panose="02050806060905020404" pitchFamily="18" charset="0"/>
              </a:rPr>
              <a:t>Logistics Optimization for Delivery Routes – Amazon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75BA23-9421-4BCA-BC78-1F9F2D90D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41913"/>
            <a:ext cx="9144000" cy="1947723"/>
          </a:xfrm>
        </p:spPr>
        <p:txBody>
          <a:bodyPr/>
          <a:lstStyle/>
          <a:p>
            <a:pPr algn="r"/>
            <a:r>
              <a:rPr lang="en-US" dirty="0"/>
              <a:t>	</a:t>
            </a:r>
            <a:r>
              <a:rPr lang="en-US" dirty="0">
                <a:latin typeface="Britannic Bold" panose="020B0903060703020204" pitchFamily="34" charset="0"/>
              </a:rPr>
              <a:t>Name: Mohammad Taha</a:t>
            </a:r>
          </a:p>
          <a:p>
            <a:pPr algn="r"/>
            <a:r>
              <a:rPr lang="en-US" dirty="0">
                <a:latin typeface="Britannic Bold" panose="020B0903060703020204" pitchFamily="34" charset="0"/>
              </a:rPr>
              <a:t>Batch: Data Science Batch – 15 December</a:t>
            </a:r>
          </a:p>
          <a:p>
            <a:pPr algn="r"/>
            <a:r>
              <a:rPr lang="en-US" dirty="0">
                <a:latin typeface="Britannic Bold" panose="020B0903060703020204" pitchFamily="34" charset="0"/>
              </a:rPr>
              <a:t>Project: SQL Logistics Analytics</a:t>
            </a:r>
          </a:p>
        </p:txBody>
      </p:sp>
    </p:spTree>
    <p:extLst>
      <p:ext uri="{BB962C8B-B14F-4D97-AF65-F5344CB8AC3E}">
        <p14:creationId xmlns:p14="http://schemas.microsoft.com/office/powerpoint/2010/main" val="919542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58940-6D76-4A4C-8A30-D58FD6FCD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AE797-0025-4E55-94D1-CFDFF7356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Amazon handles millions of shipments daily through a large logistics network including warehouses, routes, and delivery agents.</a:t>
            </a:r>
          </a:p>
          <a:p>
            <a:endParaRPr lang="en-US" dirty="0"/>
          </a:p>
          <a:p>
            <a:r>
              <a:rPr lang="en-US" dirty="0"/>
              <a:t>Delivery delays and inefficient routes can impact customer satisfaction and operational costs.</a:t>
            </a:r>
          </a:p>
          <a:p>
            <a:endParaRPr lang="en-US" dirty="0"/>
          </a:p>
          <a:p>
            <a:r>
              <a:rPr lang="en-US" dirty="0"/>
              <a:t>This project analyzes logistics data using SQL to identify delays, optimize routes, evaluate warehouse performance, and improve delivery efficiency.</a:t>
            </a:r>
          </a:p>
        </p:txBody>
      </p:sp>
    </p:spTree>
    <p:extLst>
      <p:ext uri="{BB962C8B-B14F-4D97-AF65-F5344CB8AC3E}">
        <p14:creationId xmlns:p14="http://schemas.microsoft.com/office/powerpoint/2010/main" val="1549352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08125-87D8-41E6-AE56-A12FD6C05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Description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8C2A03-73A4-47E8-9E3B-DF9D8EB4C5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088" y="1253331"/>
            <a:ext cx="10225495" cy="5028200"/>
          </a:xfrm>
        </p:spPr>
      </p:pic>
    </p:spTree>
    <p:extLst>
      <p:ext uri="{BB962C8B-B14F-4D97-AF65-F5344CB8AC3E}">
        <p14:creationId xmlns:p14="http://schemas.microsoft.com/office/powerpoint/2010/main" val="3964528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38778-9555-45A7-A4B0-DE761A97F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6104"/>
            <a:ext cx="10515600" cy="728868"/>
          </a:xfrm>
        </p:spPr>
        <p:txBody>
          <a:bodyPr anchor="t">
            <a:normAutofit/>
          </a:bodyPr>
          <a:lstStyle/>
          <a:p>
            <a:pPr>
              <a:lnSpc>
                <a:spcPct val="50000"/>
              </a:lnSpc>
            </a:pPr>
            <a:br>
              <a:rPr lang="en-US" sz="2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sz="2800" b="1" i="0" u="none" strike="noStrike" baseline="0" dirty="0">
                <a:latin typeface="Arial" panose="020B0604020202020204" pitchFamily="34" charset="0"/>
              </a:rPr>
              <a:t>Task 1: Data Cleaning &amp; Preparation 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FACE4-2E80-4E82-B8D1-B4A308C1E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162" y="1364973"/>
            <a:ext cx="10515600" cy="5287617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sz="2400" dirty="0"/>
            </a:br>
            <a:r>
              <a:rPr lang="en-US" sz="3200" dirty="0"/>
              <a:t>Data cleaning was performed to ensure data accuracy and reliability before analysis.</a:t>
            </a:r>
          </a:p>
          <a:p>
            <a:pPr marL="0" indent="0">
              <a:buNone/>
            </a:pPr>
            <a:r>
              <a:rPr lang="en-US" sz="3200" dirty="0"/>
              <a:t>The following steps were performed:</a:t>
            </a:r>
          </a:p>
          <a:p>
            <a:pPr marL="0" indent="0">
              <a:buNone/>
            </a:pPr>
            <a:r>
              <a:rPr lang="en-US" sz="3200" dirty="0"/>
              <a:t>   • Identified and removed duplicate </a:t>
            </a:r>
            <a:r>
              <a:rPr lang="en-US" sz="3200" dirty="0" err="1"/>
              <a:t>Order_ID</a:t>
            </a:r>
            <a:r>
              <a:rPr lang="en-US" sz="3200" dirty="0"/>
              <a:t> records</a:t>
            </a:r>
          </a:p>
          <a:p>
            <a:pPr marL="0" indent="0">
              <a:buNone/>
            </a:pPr>
            <a:r>
              <a:rPr lang="en-US" sz="3200" dirty="0"/>
              <a:t>   • Replaced missing </a:t>
            </a:r>
            <a:r>
              <a:rPr lang="en-US" sz="3200" dirty="0" err="1"/>
              <a:t>Traffic_Delay_Min</a:t>
            </a:r>
            <a:r>
              <a:rPr lang="en-US" sz="3200" dirty="0"/>
              <a:t> values</a:t>
            </a:r>
          </a:p>
          <a:p>
            <a:pPr marL="0" indent="0">
              <a:buNone/>
            </a:pPr>
            <a:r>
              <a:rPr lang="en-US" sz="3200" dirty="0"/>
              <a:t>   • Standardized date formats</a:t>
            </a:r>
          </a:p>
          <a:p>
            <a:pPr marL="0" indent="0">
              <a:buNone/>
            </a:pPr>
            <a:r>
              <a:rPr lang="en-US" sz="3200" dirty="0"/>
              <a:t>   • Validated delivery date consistency</a:t>
            </a:r>
          </a:p>
        </p:txBody>
      </p:sp>
    </p:spTree>
    <p:extLst>
      <p:ext uri="{BB962C8B-B14F-4D97-AF65-F5344CB8AC3E}">
        <p14:creationId xmlns:p14="http://schemas.microsoft.com/office/powerpoint/2010/main" val="2314045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B7A3A-8B22-477F-A5B9-DB40869D6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5531"/>
            <a:ext cx="10515600" cy="344556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Arial" panose="020B0604020202020204" pitchFamily="34" charset="0"/>
              </a:rPr>
              <a:t>Task 1 SQL Queries +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7BBD8-0CD3-4718-9B06-90E75ACDE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91" y="530087"/>
            <a:ext cx="11807687" cy="6327913"/>
          </a:xfrm>
        </p:spPr>
        <p:txBody>
          <a:bodyPr>
            <a:normAutofit lnSpcReduction="10000"/>
          </a:bodyPr>
          <a:lstStyle/>
          <a:p>
            <a:r>
              <a:rPr lang="en-US" sz="2200" b="1" dirty="0"/>
              <a:t>Task 1.1  Identify and delete duplicate </a:t>
            </a:r>
            <a:r>
              <a:rPr lang="en-US" sz="2200" b="1" dirty="0" err="1"/>
              <a:t>Order_ID</a:t>
            </a:r>
            <a:r>
              <a:rPr lang="en-US" sz="2200" b="1" dirty="0"/>
              <a:t> records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• </a:t>
            </a:r>
            <a:r>
              <a:rPr lang="en-US" sz="2400" dirty="0">
                <a:solidFill>
                  <a:srgbClr val="0070C0"/>
                </a:solidFill>
              </a:rPr>
              <a:t>SELECT </a:t>
            </a:r>
            <a:r>
              <a:rPr lang="en-US" sz="2400" dirty="0" err="1">
                <a:solidFill>
                  <a:srgbClr val="0070C0"/>
                </a:solidFill>
              </a:rPr>
              <a:t>order_id</a:t>
            </a:r>
            <a:r>
              <a:rPr lang="en-US" sz="2400" dirty="0">
                <a:solidFill>
                  <a:srgbClr val="0070C0"/>
                </a:solidFill>
              </a:rPr>
              <a:t>, COUNT(*) 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FROM orders 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GROUP BY </a:t>
            </a:r>
            <a:r>
              <a:rPr lang="en-US" sz="2400" dirty="0" err="1">
                <a:solidFill>
                  <a:srgbClr val="0070C0"/>
                </a:solidFill>
              </a:rPr>
              <a:t>order_id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HAVING COUNT(*) &gt; 1;</a:t>
            </a:r>
            <a:br>
              <a:rPr lang="en-US" sz="2000" b="1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b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b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b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b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</a:br>
            <a:r>
              <a:rPr lang="en-US" sz="2000" dirty="0"/>
              <a:t>Insights :- No duplicate </a:t>
            </a:r>
            <a:r>
              <a:rPr lang="en-US" sz="2000" dirty="0" err="1"/>
              <a:t>Order_ID</a:t>
            </a:r>
            <a:r>
              <a:rPr lang="en-US" sz="2000" dirty="0"/>
              <a:t> records were found in the dataset.</a:t>
            </a:r>
            <a:br>
              <a:rPr lang="en-US" sz="2000" dirty="0"/>
            </a:br>
            <a:br>
              <a:rPr lang="en-US" sz="2000" dirty="0"/>
            </a:br>
            <a:r>
              <a:rPr lang="en-US" sz="2200" b="1" dirty="0"/>
              <a:t>Task 1.2 Replace null </a:t>
            </a:r>
            <a:r>
              <a:rPr lang="en-US" sz="2200" b="1" dirty="0" err="1"/>
              <a:t>Traffic_Delay_Min</a:t>
            </a:r>
            <a:r>
              <a:rPr lang="en-US" sz="2200" b="1" dirty="0"/>
              <a:t> with the average delay for that route.</a:t>
            </a:r>
            <a:br>
              <a:rPr lang="en-US" sz="2200" b="1" dirty="0"/>
            </a:br>
            <a:br>
              <a:rPr lang="en-US" sz="2200" b="1" dirty="0"/>
            </a:br>
            <a:r>
              <a:rPr lang="en-US" sz="2400" dirty="0">
                <a:solidFill>
                  <a:srgbClr val="0070C0"/>
                </a:solidFill>
              </a:rPr>
              <a:t>• SELECT * FROM routes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WHERE  </a:t>
            </a:r>
            <a:r>
              <a:rPr lang="en-US" sz="2400" dirty="0" err="1">
                <a:solidFill>
                  <a:srgbClr val="0070C0"/>
                </a:solidFill>
              </a:rPr>
              <a:t>traffic_delay_min</a:t>
            </a:r>
            <a:r>
              <a:rPr lang="en-US" sz="2400" dirty="0">
                <a:solidFill>
                  <a:srgbClr val="0070C0"/>
                </a:solidFill>
              </a:rPr>
              <a:t> IS NULL;</a:t>
            </a: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• UPDATE routes SET </a:t>
            </a:r>
            <a:r>
              <a:rPr lang="en-US" sz="2400" dirty="0" err="1">
                <a:solidFill>
                  <a:srgbClr val="0070C0"/>
                </a:solidFill>
              </a:rPr>
              <a:t>traffic_delay</a:t>
            </a:r>
            <a:r>
              <a:rPr lang="en-US" sz="2400" dirty="0">
                <a:solidFill>
                  <a:srgbClr val="0070C0"/>
                </a:solidFill>
              </a:rPr>
              <a:t>_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min = (SELECT AVG(</a:t>
            </a:r>
            <a:r>
              <a:rPr lang="en-US" sz="2400" dirty="0" err="1">
                <a:solidFill>
                  <a:srgbClr val="0070C0"/>
                </a:solidFill>
              </a:rPr>
              <a:t>traffic_delay_min</a:t>
            </a:r>
            <a:r>
              <a:rPr lang="en-US" sz="2400" dirty="0">
                <a:solidFill>
                  <a:srgbClr val="0070C0"/>
                </a:solidFill>
              </a:rPr>
              <a:t>)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FROM routes)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WHERE </a:t>
            </a:r>
            <a:r>
              <a:rPr lang="en-US" sz="2400" dirty="0" err="1">
                <a:solidFill>
                  <a:srgbClr val="0070C0"/>
                </a:solidFill>
              </a:rPr>
              <a:t>traffic_delay_min</a:t>
            </a:r>
            <a:r>
              <a:rPr lang="en-US" sz="2400" dirty="0">
                <a:solidFill>
                  <a:srgbClr val="0070C0"/>
                </a:solidFill>
              </a:rPr>
              <a:t> IS NULL;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8CD81F-AE13-4787-89E4-FCD23E900B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373" y="869690"/>
            <a:ext cx="5897217" cy="25593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B9184F-D3DD-44BC-B6CF-B572F4FC0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373" y="4298689"/>
            <a:ext cx="5897217" cy="255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595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A2191-81D5-48E6-BDED-BF683FB69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70" y="1"/>
            <a:ext cx="11234530" cy="384312"/>
          </a:xfrm>
        </p:spPr>
        <p:txBody>
          <a:bodyPr anchor="t"/>
          <a:lstStyle/>
          <a:p>
            <a:r>
              <a:rPr lang="en-US" sz="2000" dirty="0">
                <a:latin typeface="+mn-lt"/>
                <a:ea typeface="+mn-ea"/>
                <a:cs typeface="+mn-cs"/>
              </a:rPr>
              <a:t>Insights:- Missing traffic delay values were replaced using the average traffic delay.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B79FB-A4D4-4F9F-BB7C-BBD355DAC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270" y="384313"/>
            <a:ext cx="12072730" cy="6473686"/>
          </a:xfrm>
        </p:spPr>
        <p:txBody>
          <a:bodyPr>
            <a:normAutofit lnSpcReduction="10000"/>
          </a:bodyPr>
          <a:lstStyle/>
          <a:p>
            <a:r>
              <a:rPr lang="en-US" sz="2200" b="1" dirty="0"/>
              <a:t>Task 1.3 Convert all date columns into YYYY-MM-DD format using SQL functions</a:t>
            </a:r>
            <a:r>
              <a:rPr lang="en-US" sz="2200" dirty="0"/>
              <a:t>.</a:t>
            </a:r>
            <a:br>
              <a:rPr lang="en-US" sz="2200" dirty="0"/>
            </a:br>
            <a:r>
              <a:rPr lang="en-US" sz="2400" dirty="0">
                <a:solidFill>
                  <a:srgbClr val="0070C0"/>
                </a:solidFill>
              </a:rPr>
              <a:t>• UPDATE orders SET </a:t>
            </a:r>
            <a:r>
              <a:rPr lang="en-US" sz="2400" dirty="0" err="1">
                <a:solidFill>
                  <a:srgbClr val="0070C0"/>
                </a:solidFill>
              </a:rPr>
              <a:t>order_date</a:t>
            </a:r>
            <a:r>
              <a:rPr lang="en-US" sz="2400" dirty="0">
                <a:solidFill>
                  <a:srgbClr val="0070C0"/>
                </a:solidFill>
              </a:rPr>
              <a:t> = DATE(</a:t>
            </a:r>
            <a:r>
              <a:rPr lang="en-US" sz="2400" dirty="0" err="1">
                <a:solidFill>
                  <a:srgbClr val="0070C0"/>
                </a:solidFill>
              </a:rPr>
              <a:t>order_date</a:t>
            </a:r>
            <a:r>
              <a:rPr lang="en-US" sz="2400" dirty="0">
                <a:solidFill>
                  <a:srgbClr val="0070C0"/>
                </a:solidFill>
              </a:rPr>
              <a:t>);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• UPDATE orders SET </a:t>
            </a:r>
            <a:r>
              <a:rPr lang="en-US" sz="2400" dirty="0" err="1">
                <a:solidFill>
                  <a:srgbClr val="0070C0"/>
                </a:solidFill>
              </a:rPr>
              <a:t>expected_delivery_date</a:t>
            </a:r>
            <a:r>
              <a:rPr lang="en-US" sz="2400" dirty="0">
                <a:solidFill>
                  <a:srgbClr val="0070C0"/>
                </a:solidFill>
              </a:rPr>
              <a:t> = DATE(</a:t>
            </a:r>
            <a:r>
              <a:rPr lang="en-US" sz="2400" dirty="0" err="1">
                <a:solidFill>
                  <a:srgbClr val="0070C0"/>
                </a:solidFill>
              </a:rPr>
              <a:t>expected_delivery_date</a:t>
            </a:r>
            <a:r>
              <a:rPr lang="en-US" sz="2400" dirty="0">
                <a:solidFill>
                  <a:srgbClr val="0070C0"/>
                </a:solidFill>
              </a:rPr>
              <a:t>);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• UPDATE orders SET </a:t>
            </a:r>
            <a:r>
              <a:rPr lang="en-US" sz="2400" dirty="0" err="1">
                <a:solidFill>
                  <a:srgbClr val="0070C0"/>
                </a:solidFill>
              </a:rPr>
              <a:t>actual_delivery_date</a:t>
            </a:r>
            <a:r>
              <a:rPr lang="en-US" sz="2400" dirty="0">
                <a:solidFill>
                  <a:srgbClr val="0070C0"/>
                </a:solidFill>
              </a:rPr>
              <a:t> = DATE(</a:t>
            </a:r>
            <a:r>
              <a:rPr lang="en-US" sz="2400" dirty="0" err="1">
                <a:solidFill>
                  <a:srgbClr val="0070C0"/>
                </a:solidFill>
              </a:rPr>
              <a:t>actual_delivery_date</a:t>
            </a:r>
            <a:r>
              <a:rPr lang="en-US" sz="2400" dirty="0">
                <a:solidFill>
                  <a:srgbClr val="0070C0"/>
                </a:solidFill>
              </a:rPr>
              <a:t>);</a:t>
            </a: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200" dirty="0"/>
              <a:t>Insights :- No invalid records were found where the actual delivery date occurred before the order date.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9406E8-19B5-4C4C-934E-20ECB5BBCC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469" y="1777154"/>
            <a:ext cx="8044070" cy="397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43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47282-DE42-43D6-A4CE-154631A09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0" y="259108"/>
            <a:ext cx="12082669" cy="421930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latin typeface="+mn-lt"/>
                <a:ea typeface="+mn-ea"/>
                <a:cs typeface="+mn-cs"/>
              </a:rPr>
              <a:t>Task 1.4 Ensure that no </a:t>
            </a:r>
            <a:r>
              <a:rPr lang="en-US" sz="2400" b="1" dirty="0" err="1">
                <a:latin typeface="+mn-lt"/>
                <a:ea typeface="+mn-ea"/>
                <a:cs typeface="+mn-cs"/>
              </a:rPr>
              <a:t>Actual_Delivery_Date</a:t>
            </a:r>
            <a:r>
              <a:rPr lang="en-US" sz="2400" b="1" dirty="0">
                <a:latin typeface="+mn-lt"/>
                <a:ea typeface="+mn-ea"/>
                <a:cs typeface="+mn-cs"/>
              </a:rPr>
              <a:t> is before </a:t>
            </a:r>
            <a:r>
              <a:rPr lang="en-US" sz="2400" b="1" dirty="0" err="1">
                <a:latin typeface="+mn-lt"/>
                <a:ea typeface="+mn-ea"/>
                <a:cs typeface="+mn-cs"/>
              </a:rPr>
              <a:t>Order_Date</a:t>
            </a:r>
            <a:r>
              <a:rPr lang="en-US" sz="2400" b="1" dirty="0">
                <a:latin typeface="+mn-lt"/>
                <a:ea typeface="+mn-ea"/>
                <a:cs typeface="+mn-cs"/>
              </a:rPr>
              <a:t> (flag such records).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E11EE-6BDC-43B0-8C87-D0278B2F3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330" y="795130"/>
            <a:ext cx="11963400" cy="606287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• SELECT * FROM orders WHERE </a:t>
            </a:r>
            <a:r>
              <a:rPr lang="en-US" sz="2400" dirty="0" err="1">
                <a:solidFill>
                  <a:srgbClr val="0070C0"/>
                </a:solidFill>
              </a:rPr>
              <a:t>actual_delivery_date</a:t>
            </a:r>
            <a:r>
              <a:rPr lang="en-US" sz="2400" dirty="0">
                <a:solidFill>
                  <a:srgbClr val="0070C0"/>
                </a:solidFill>
              </a:rPr>
              <a:t> &lt; </a:t>
            </a:r>
            <a:r>
              <a:rPr lang="en-US" sz="2400" dirty="0" err="1">
                <a:solidFill>
                  <a:srgbClr val="0070C0"/>
                </a:solidFill>
              </a:rPr>
              <a:t>order_date</a:t>
            </a:r>
            <a:r>
              <a:rPr lang="en-US" sz="2400" dirty="0">
                <a:solidFill>
                  <a:srgbClr val="0070C0"/>
                </a:solidFill>
              </a:rPr>
              <a:t>;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• ALTER TABLE orders ADD COLUMN </a:t>
            </a:r>
            <a:r>
              <a:rPr lang="en-US" sz="2400" dirty="0" err="1">
                <a:solidFill>
                  <a:srgbClr val="0070C0"/>
                </a:solidFill>
              </a:rPr>
              <a:t>invalid_delivery_flag</a:t>
            </a:r>
            <a:r>
              <a:rPr lang="en-US" sz="2400" dirty="0">
                <a:solidFill>
                  <a:srgbClr val="0070C0"/>
                </a:solidFill>
              </a:rPr>
              <a:t> VARCHAR(10);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• UPDATE orders SET </a:t>
            </a:r>
            <a:r>
              <a:rPr lang="en-US" sz="2400" dirty="0" err="1">
                <a:solidFill>
                  <a:srgbClr val="0070C0"/>
                </a:solidFill>
              </a:rPr>
              <a:t>invalid_delivery_flag</a:t>
            </a:r>
            <a:r>
              <a:rPr lang="en-US" sz="2400" dirty="0">
                <a:solidFill>
                  <a:srgbClr val="0070C0"/>
                </a:solidFill>
              </a:rPr>
              <a:t> = 'INVALID’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WHERE </a:t>
            </a:r>
            <a:r>
              <a:rPr lang="en-US" sz="2400" dirty="0" err="1">
                <a:solidFill>
                  <a:srgbClr val="0070C0"/>
                </a:solidFill>
              </a:rPr>
              <a:t>actual_delivery_date</a:t>
            </a:r>
            <a:r>
              <a:rPr lang="en-US" sz="2400" dirty="0">
                <a:solidFill>
                  <a:srgbClr val="0070C0"/>
                </a:solidFill>
              </a:rPr>
              <a:t> &lt; </a:t>
            </a:r>
            <a:r>
              <a:rPr lang="en-US" sz="2400" dirty="0" err="1">
                <a:solidFill>
                  <a:srgbClr val="0070C0"/>
                </a:solidFill>
              </a:rPr>
              <a:t>order_date</a:t>
            </a:r>
            <a:r>
              <a:rPr lang="en-US" sz="2400" dirty="0">
                <a:solidFill>
                  <a:srgbClr val="0070C0"/>
                </a:solidFill>
              </a:rPr>
              <a:t>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D4E073-57C2-4310-B366-39BC94D6F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044" y="2233529"/>
            <a:ext cx="8057322" cy="453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44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C5FDE-F92D-41BE-B8F4-D5AF1C662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69" y="306182"/>
            <a:ext cx="11343861" cy="787814"/>
          </a:xfrm>
        </p:spPr>
        <p:txBody>
          <a:bodyPr/>
          <a:lstStyle/>
          <a:p>
            <a:r>
              <a:rPr lang="en-US" sz="2800" b="1" dirty="0">
                <a:latin typeface="Arial" panose="020B0604020202020204" pitchFamily="34" charset="0"/>
              </a:rPr>
              <a:t>Task 2: Delivery Delay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F8078-DD8C-4467-9095-7BEE4880C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313" y="1364974"/>
            <a:ext cx="11343861" cy="526111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Delivery delay analysis was performed to identify delayed shipments and inefficient delivery routes.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following analysis was conducted:</a:t>
            </a:r>
          </a:p>
          <a:p>
            <a:pPr marL="0" indent="0">
              <a:buNone/>
            </a:pPr>
            <a:r>
              <a:rPr lang="en-US" sz="2400" dirty="0"/>
              <a:t>• Calculated delivery delay for each order</a:t>
            </a:r>
          </a:p>
          <a:p>
            <a:pPr marL="0" indent="0">
              <a:buNone/>
            </a:pPr>
            <a:r>
              <a:rPr lang="en-US" sz="2400" dirty="0"/>
              <a:t>• Identified top delayed routes based on average delay</a:t>
            </a:r>
          </a:p>
          <a:p>
            <a:pPr marL="0" indent="0">
              <a:buNone/>
            </a:pPr>
            <a:r>
              <a:rPr lang="en-US" sz="2400" dirty="0"/>
              <a:t>• Ranked orders by delay within each warehouse using window functions</a:t>
            </a:r>
          </a:p>
        </p:txBody>
      </p:sp>
    </p:spTree>
    <p:extLst>
      <p:ext uri="{BB962C8B-B14F-4D97-AF65-F5344CB8AC3E}">
        <p14:creationId xmlns:p14="http://schemas.microsoft.com/office/powerpoint/2010/main" val="3692802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CF54-E14B-41F3-A439-2A80DC19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" y="1"/>
            <a:ext cx="11979965" cy="424069"/>
          </a:xfrm>
        </p:spPr>
        <p:txBody>
          <a:bodyPr anchor="t">
            <a:normAutofit fontScale="90000"/>
          </a:bodyPr>
          <a:lstStyle/>
          <a:p>
            <a:r>
              <a:rPr lang="en-US" sz="2800" b="1" dirty="0">
                <a:latin typeface="Arial" panose="020B0604020202020204" pitchFamily="34" charset="0"/>
              </a:rPr>
              <a:t>Task 2.1 Calculate delivery delay (in days) for each order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1541-D774-4734-A107-B370974C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3" y="331305"/>
            <a:ext cx="11953460" cy="64339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SELECT  </a:t>
            </a:r>
            <a:r>
              <a:rPr lang="en-US" sz="2000" dirty="0" err="1">
                <a:solidFill>
                  <a:srgbClr val="0070C0"/>
                </a:solidFill>
              </a:rPr>
              <a:t>order_id,route_id</a:t>
            </a:r>
            <a:r>
              <a:rPr lang="en-US" sz="2000" dirty="0">
                <a:solidFill>
                  <a:srgbClr val="0070C0"/>
                </a:solidFill>
              </a:rPr>
              <a:t>, </a:t>
            </a:r>
            <a:r>
              <a:rPr lang="en-US" sz="2000" dirty="0" err="1">
                <a:solidFill>
                  <a:srgbClr val="0070C0"/>
                </a:solidFill>
              </a:rPr>
              <a:t>warehouse_id</a:t>
            </a:r>
            <a:r>
              <a:rPr lang="en-US" sz="2000" dirty="0">
                <a:solidFill>
                  <a:srgbClr val="0070C0"/>
                </a:solidFill>
              </a:rPr>
              <a:t>,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DATEDIFF(</a:t>
            </a:r>
            <a:r>
              <a:rPr lang="en-US" sz="2000" dirty="0" err="1">
                <a:solidFill>
                  <a:srgbClr val="0070C0"/>
                </a:solidFill>
              </a:rPr>
              <a:t>actual_delivery_date</a:t>
            </a:r>
            <a:r>
              <a:rPr lang="en-US" sz="2000" dirty="0">
                <a:solidFill>
                  <a:srgbClr val="0070C0"/>
                </a:solidFill>
              </a:rPr>
              <a:t>, </a:t>
            </a:r>
            <a:r>
              <a:rPr lang="en-US" sz="2000" dirty="0" err="1">
                <a:solidFill>
                  <a:srgbClr val="0070C0"/>
                </a:solidFill>
              </a:rPr>
              <a:t>expected_delivery_date</a:t>
            </a:r>
            <a:r>
              <a:rPr lang="en-US" sz="2000" dirty="0">
                <a:solidFill>
                  <a:srgbClr val="0070C0"/>
                </a:solidFill>
              </a:rPr>
              <a:t>) AS </a:t>
            </a:r>
            <a:r>
              <a:rPr lang="en-US" sz="2000" dirty="0" err="1">
                <a:solidFill>
                  <a:srgbClr val="0070C0"/>
                </a:solidFill>
              </a:rPr>
              <a:t>delay_days</a:t>
            </a:r>
            <a:r>
              <a:rPr lang="en-US" sz="2000" dirty="0">
                <a:solidFill>
                  <a:srgbClr val="0070C0"/>
                </a:solidFill>
              </a:rPr>
              <a:t> FROM orders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WHERE </a:t>
            </a:r>
            <a:r>
              <a:rPr lang="en-US" sz="2000" dirty="0" err="1">
                <a:solidFill>
                  <a:srgbClr val="0070C0"/>
                </a:solidFill>
              </a:rPr>
              <a:t>actual_delivery_date</a:t>
            </a:r>
            <a:r>
              <a:rPr lang="en-US" sz="2000" dirty="0">
                <a:solidFill>
                  <a:srgbClr val="0070C0"/>
                </a:solidFill>
              </a:rPr>
              <a:t> &gt; </a:t>
            </a:r>
            <a:r>
              <a:rPr lang="en-US" sz="2000" dirty="0" err="1">
                <a:solidFill>
                  <a:srgbClr val="0070C0"/>
                </a:solidFill>
              </a:rPr>
              <a:t>expected_delivery_date</a:t>
            </a:r>
            <a:r>
              <a:rPr lang="en-US" sz="2000" dirty="0">
                <a:solidFill>
                  <a:srgbClr val="0070C0"/>
                </a:solidFill>
              </a:rPr>
              <a:t>;</a:t>
            </a: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1800" dirty="0"/>
              <a:t>Insights :- Delivery delay was calculated as the difference between actual delivery date and expected delivery date.</a:t>
            </a:r>
          </a:p>
          <a:p>
            <a:pPr marL="0" indent="0">
              <a:buNone/>
            </a:pPr>
            <a:r>
              <a:rPr lang="en-US" sz="1800" dirty="0"/>
              <a:t>Positive values indicate delayed deliveries while zero indicates on-time delivery.</a:t>
            </a:r>
            <a:br>
              <a:rPr lang="en-US" sz="1800" dirty="0">
                <a:solidFill>
                  <a:srgbClr val="0070C0"/>
                </a:solidFill>
              </a:rPr>
            </a:br>
            <a:endParaRPr lang="en-US" sz="1800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101203-900E-457B-A961-ED8D435D7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643" y="1461462"/>
            <a:ext cx="7664913" cy="405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08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CF54-E14B-41F3-A439-2A80DC19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" y="225287"/>
            <a:ext cx="11979965" cy="463826"/>
          </a:xfrm>
        </p:spPr>
        <p:txBody>
          <a:bodyPr anchor="t">
            <a:normAutofit fontScale="90000"/>
          </a:bodyPr>
          <a:lstStyle/>
          <a:p>
            <a:r>
              <a:rPr lang="en-US" sz="2800" b="1" dirty="0">
                <a:latin typeface="Arial" panose="020B0604020202020204" pitchFamily="34" charset="0"/>
              </a:rPr>
              <a:t>Task 2.2 Find Top 10 delayed routes based on average delay days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1541-D774-4734-A107-B370974C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027" y="417804"/>
            <a:ext cx="11953460" cy="6433929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• SELECT </a:t>
            </a:r>
            <a:r>
              <a:rPr lang="en-US" sz="2400" dirty="0" err="1">
                <a:solidFill>
                  <a:srgbClr val="0070C0"/>
                </a:solidFill>
              </a:rPr>
              <a:t>route_id</a:t>
            </a:r>
            <a:r>
              <a:rPr lang="en-US" sz="2400" dirty="0">
                <a:solidFill>
                  <a:srgbClr val="0070C0"/>
                </a:solidFill>
              </a:rPr>
              <a:t>, AVG(DATEDIFF(</a:t>
            </a:r>
            <a:r>
              <a:rPr lang="en-US" sz="2400" dirty="0" err="1">
                <a:solidFill>
                  <a:srgbClr val="0070C0"/>
                </a:solidFill>
              </a:rPr>
              <a:t>actual_delivery_date</a:t>
            </a:r>
            <a:r>
              <a:rPr lang="en-US" sz="2400" dirty="0">
                <a:solidFill>
                  <a:srgbClr val="0070C0"/>
                </a:solidFill>
              </a:rPr>
              <a:t>, </a:t>
            </a:r>
            <a:r>
              <a:rPr lang="en-US" sz="2400" dirty="0" err="1">
                <a:solidFill>
                  <a:srgbClr val="0070C0"/>
                </a:solidFill>
              </a:rPr>
              <a:t>expected_delivery_date</a:t>
            </a:r>
            <a:r>
              <a:rPr lang="en-US" sz="2400" dirty="0">
                <a:solidFill>
                  <a:srgbClr val="0070C0"/>
                </a:solidFill>
              </a:rPr>
              <a:t>)) AS     </a:t>
            </a:r>
            <a:r>
              <a:rPr lang="en-US" sz="2400" dirty="0" err="1">
                <a:solidFill>
                  <a:srgbClr val="0070C0"/>
                </a:solidFill>
              </a:rPr>
              <a:t>avg_delay_daysFROM</a:t>
            </a:r>
            <a:r>
              <a:rPr lang="en-US" sz="2400" dirty="0">
                <a:solidFill>
                  <a:srgbClr val="0070C0"/>
                </a:solidFill>
              </a:rPr>
              <a:t> orders  GROUP BY </a:t>
            </a:r>
            <a:r>
              <a:rPr lang="en-US" sz="2400" dirty="0" err="1">
                <a:solidFill>
                  <a:srgbClr val="0070C0"/>
                </a:solidFill>
              </a:rPr>
              <a:t>route_id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ORDER BY </a:t>
            </a:r>
            <a:r>
              <a:rPr lang="en-US" sz="2400" dirty="0" err="1">
                <a:solidFill>
                  <a:srgbClr val="0070C0"/>
                </a:solidFill>
              </a:rPr>
              <a:t>avg_delay_days</a:t>
            </a:r>
            <a:r>
              <a:rPr lang="en-US" sz="2400" dirty="0">
                <a:solidFill>
                  <a:srgbClr val="0070C0"/>
                </a:solidFill>
              </a:rPr>
              <a:t> DESCLIMIT 10;</a:t>
            </a: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200" dirty="0"/>
              <a:t>Insights:- Certain routes show significantly higher delivery delays, indicating potential issues such as traffic congestion or inefficient routing.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762CEC-C352-4A8D-B592-C6E38421A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6" y="2008426"/>
            <a:ext cx="5837579" cy="3252686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F003C4DB-FCD9-42F3-AA9C-232C3DA0F4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4840602"/>
              </p:ext>
            </p:extLst>
          </p:nvPr>
        </p:nvGraphicFramePr>
        <p:xfrm>
          <a:off x="6036363" y="2008426"/>
          <a:ext cx="5996610" cy="3252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3441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CF54-E14B-41F3-A439-2A80DC19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" y="40605"/>
            <a:ext cx="11979965" cy="648508"/>
          </a:xfrm>
        </p:spPr>
        <p:txBody>
          <a:bodyPr anchor="t">
            <a:normAutofit fontScale="90000"/>
          </a:bodyPr>
          <a:lstStyle/>
          <a:p>
            <a:r>
              <a:rPr lang="en-US" sz="2800" b="1" dirty="0">
                <a:latin typeface="Arial" panose="020B0604020202020204" pitchFamily="34" charset="0"/>
              </a:rPr>
              <a:t>Task 2.3 Use window functions to rank all orders by delay within each warehouse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1541-D774-4734-A107-B370974C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775" y="781878"/>
            <a:ext cx="11953460" cy="60698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0070C0"/>
                </a:solidFill>
              </a:rPr>
              <a:t>SELECT </a:t>
            </a:r>
            <a:r>
              <a:rPr lang="en-US" sz="2200" dirty="0" err="1">
                <a:solidFill>
                  <a:srgbClr val="0070C0"/>
                </a:solidFill>
              </a:rPr>
              <a:t>order_id</a:t>
            </a:r>
            <a:r>
              <a:rPr lang="en-US" sz="2200" dirty="0">
                <a:solidFill>
                  <a:srgbClr val="0070C0"/>
                </a:solidFill>
              </a:rPr>
              <a:t>, </a:t>
            </a:r>
            <a:r>
              <a:rPr lang="en-US" sz="2200" dirty="0" err="1">
                <a:solidFill>
                  <a:srgbClr val="0070C0"/>
                </a:solidFill>
              </a:rPr>
              <a:t>warehouse_id</a:t>
            </a:r>
            <a:r>
              <a:rPr lang="en-US" sz="2200" dirty="0">
                <a:solidFill>
                  <a:srgbClr val="0070C0"/>
                </a:solidFill>
              </a:rPr>
              <a:t>, </a:t>
            </a:r>
            <a:r>
              <a:rPr lang="en-US" sz="2200" dirty="0" err="1">
                <a:solidFill>
                  <a:srgbClr val="0070C0"/>
                </a:solidFill>
              </a:rPr>
              <a:t>route_id</a:t>
            </a:r>
            <a:r>
              <a:rPr lang="en-US" sz="2200" dirty="0">
                <a:solidFill>
                  <a:srgbClr val="0070C0"/>
                </a:solidFill>
              </a:rPr>
              <a:t>,</a:t>
            </a:r>
            <a:br>
              <a:rPr lang="en-US" sz="2200" dirty="0">
                <a:solidFill>
                  <a:srgbClr val="0070C0"/>
                </a:solidFill>
              </a:rPr>
            </a:br>
            <a:r>
              <a:rPr lang="en-US" sz="2200" dirty="0">
                <a:solidFill>
                  <a:srgbClr val="0070C0"/>
                </a:solidFill>
              </a:rPr>
              <a:t>DATEDIFF(</a:t>
            </a:r>
            <a:r>
              <a:rPr lang="en-US" sz="2200" dirty="0" err="1">
                <a:solidFill>
                  <a:srgbClr val="0070C0"/>
                </a:solidFill>
              </a:rPr>
              <a:t>actual_delivery_date</a:t>
            </a:r>
            <a:r>
              <a:rPr lang="en-US" sz="2200" dirty="0">
                <a:solidFill>
                  <a:srgbClr val="0070C0"/>
                </a:solidFill>
              </a:rPr>
              <a:t>, </a:t>
            </a:r>
            <a:r>
              <a:rPr lang="en-US" sz="2200" dirty="0" err="1">
                <a:solidFill>
                  <a:srgbClr val="0070C0"/>
                </a:solidFill>
              </a:rPr>
              <a:t>expected_delivery_date</a:t>
            </a:r>
            <a:r>
              <a:rPr lang="en-US" sz="2200" dirty="0">
                <a:solidFill>
                  <a:srgbClr val="0070C0"/>
                </a:solidFill>
              </a:rPr>
              <a:t>) AS </a:t>
            </a:r>
            <a:r>
              <a:rPr lang="en-US" sz="2200" dirty="0" err="1">
                <a:solidFill>
                  <a:srgbClr val="0070C0"/>
                </a:solidFill>
              </a:rPr>
              <a:t>delay_days</a:t>
            </a:r>
            <a:r>
              <a:rPr lang="en-US" sz="2200" dirty="0">
                <a:solidFill>
                  <a:srgbClr val="0070C0"/>
                </a:solidFill>
              </a:rPr>
              <a:t>,</a:t>
            </a:r>
            <a:br>
              <a:rPr lang="en-US" sz="2200" dirty="0">
                <a:solidFill>
                  <a:srgbClr val="0070C0"/>
                </a:solidFill>
              </a:rPr>
            </a:br>
            <a:r>
              <a:rPr lang="en-US" sz="2200" dirty="0">
                <a:solidFill>
                  <a:srgbClr val="0070C0"/>
                </a:solidFill>
              </a:rPr>
              <a:t>RANK() OVER (PARTITION BY </a:t>
            </a:r>
            <a:r>
              <a:rPr lang="en-US" sz="2200" dirty="0" err="1">
                <a:solidFill>
                  <a:srgbClr val="0070C0"/>
                </a:solidFill>
              </a:rPr>
              <a:t>warehouse_id</a:t>
            </a:r>
            <a:r>
              <a:rPr lang="en-US" sz="2200" dirty="0">
                <a:solidFill>
                  <a:srgbClr val="0070C0"/>
                </a:solidFill>
              </a:rPr>
              <a:t> </a:t>
            </a:r>
            <a:br>
              <a:rPr lang="en-US" sz="2200" dirty="0">
                <a:solidFill>
                  <a:srgbClr val="0070C0"/>
                </a:solidFill>
              </a:rPr>
            </a:br>
            <a:r>
              <a:rPr lang="en-US" sz="2200" dirty="0">
                <a:solidFill>
                  <a:srgbClr val="0070C0"/>
                </a:solidFill>
              </a:rPr>
              <a:t>ORDER BY DATEDIFF(</a:t>
            </a:r>
            <a:r>
              <a:rPr lang="en-US" sz="2200" dirty="0" err="1">
                <a:solidFill>
                  <a:srgbClr val="0070C0"/>
                </a:solidFill>
              </a:rPr>
              <a:t>actual_delivery_date</a:t>
            </a:r>
            <a:r>
              <a:rPr lang="en-US" sz="2200" dirty="0">
                <a:solidFill>
                  <a:srgbClr val="0070C0"/>
                </a:solidFill>
              </a:rPr>
              <a:t>, </a:t>
            </a:r>
            <a:r>
              <a:rPr lang="en-US" sz="2200" dirty="0" err="1">
                <a:solidFill>
                  <a:srgbClr val="0070C0"/>
                </a:solidFill>
              </a:rPr>
              <a:t>expected_delivery_date</a:t>
            </a:r>
            <a:r>
              <a:rPr lang="en-US" sz="2200" dirty="0">
                <a:solidFill>
                  <a:srgbClr val="0070C0"/>
                </a:solidFill>
              </a:rPr>
              <a:t>) DESC) </a:t>
            </a:r>
            <a:br>
              <a:rPr lang="en-US" sz="2200" dirty="0">
                <a:solidFill>
                  <a:srgbClr val="0070C0"/>
                </a:solidFill>
              </a:rPr>
            </a:br>
            <a:r>
              <a:rPr lang="en-US" sz="2200" dirty="0">
                <a:solidFill>
                  <a:srgbClr val="0070C0"/>
                </a:solidFill>
              </a:rPr>
              <a:t>AS </a:t>
            </a:r>
            <a:r>
              <a:rPr lang="en-US" sz="2200" dirty="0" err="1">
                <a:solidFill>
                  <a:srgbClr val="0070C0"/>
                </a:solidFill>
              </a:rPr>
              <a:t>delay_rank</a:t>
            </a:r>
            <a:r>
              <a:rPr lang="en-US" sz="2200" dirty="0">
                <a:solidFill>
                  <a:srgbClr val="0070C0"/>
                </a:solidFill>
              </a:rPr>
              <a:t> FROM orders;</a:t>
            </a: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r>
              <a:rPr lang="en-US" sz="2200" dirty="0">
                <a:solidFill>
                  <a:srgbClr val="0070C0"/>
                </a:solidFill>
              </a:rPr>
              <a:t>Insights- </a:t>
            </a:r>
            <a:r>
              <a:rPr lang="en-US" sz="2200" dirty="0"/>
              <a:t>Orders were ranked within each warehouse based on delivery delay using window functions.</a:t>
            </a:r>
          </a:p>
          <a:p>
            <a:pPr marL="0" indent="0">
              <a:buNone/>
            </a:pPr>
            <a:r>
              <a:rPr lang="en-US" sz="2200" dirty="0"/>
              <a:t>               -This helps identify the most delayed orders handled by each warehouse.</a:t>
            </a:r>
          </a:p>
          <a:p>
            <a:pPr marL="0" indent="0">
              <a:buNone/>
            </a:pPr>
            <a:endParaRPr lang="en-US" sz="2200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A25DEA-4D59-4F53-997D-FEC282988D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4348" y="2118651"/>
            <a:ext cx="7646504" cy="3500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801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CF54-E14B-41F3-A439-2A80DC19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979965" cy="424069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</a:rPr>
              <a:t>Task 3: Route Optimization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1541-D774-4734-A107-B370974C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3" y="331305"/>
            <a:ext cx="11953460" cy="643392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br>
              <a:rPr lang="en-US" sz="2400" b="1" dirty="0"/>
            </a:br>
            <a:r>
              <a:rPr lang="en-US" sz="2400" b="1" dirty="0"/>
              <a:t>Task 3.1.1  Average delivery time (in days)</a:t>
            </a:r>
            <a:br>
              <a:rPr lang="en-US" sz="2200" b="1" dirty="0"/>
            </a:br>
            <a:br>
              <a:rPr lang="en-US" sz="2200" b="1" dirty="0"/>
            </a:br>
            <a:r>
              <a:rPr lang="en-US" sz="2000" dirty="0">
                <a:solidFill>
                  <a:srgbClr val="0070C0"/>
                </a:solidFill>
              </a:rPr>
              <a:t>• </a:t>
            </a:r>
            <a:r>
              <a:rPr lang="en-US" sz="2200" dirty="0">
                <a:solidFill>
                  <a:srgbClr val="0070C0"/>
                </a:solidFill>
              </a:rPr>
              <a:t>SELECT </a:t>
            </a:r>
            <a:r>
              <a:rPr lang="en-US" sz="2200" dirty="0" err="1">
                <a:solidFill>
                  <a:srgbClr val="0070C0"/>
                </a:solidFill>
              </a:rPr>
              <a:t>route_id</a:t>
            </a:r>
            <a:r>
              <a:rPr lang="en-US" sz="2200" dirty="0">
                <a:solidFill>
                  <a:srgbClr val="0070C0"/>
                </a:solidFill>
              </a:rPr>
              <a:t>, </a:t>
            </a:r>
            <a:br>
              <a:rPr lang="en-US" sz="2200" dirty="0">
                <a:solidFill>
                  <a:srgbClr val="0070C0"/>
                </a:solidFill>
              </a:rPr>
            </a:br>
            <a:r>
              <a:rPr lang="en-US" sz="2200" dirty="0">
                <a:solidFill>
                  <a:srgbClr val="0070C0"/>
                </a:solidFill>
              </a:rPr>
              <a:t>AVG(DATEDIFF(</a:t>
            </a:r>
            <a:r>
              <a:rPr lang="en-US" sz="2200" dirty="0" err="1">
                <a:solidFill>
                  <a:srgbClr val="0070C0"/>
                </a:solidFill>
              </a:rPr>
              <a:t>actual_delivery_date</a:t>
            </a:r>
            <a:r>
              <a:rPr lang="en-US" sz="2200" dirty="0">
                <a:solidFill>
                  <a:srgbClr val="0070C0"/>
                </a:solidFill>
              </a:rPr>
              <a:t>, </a:t>
            </a:r>
            <a:r>
              <a:rPr lang="en-US" sz="2200" dirty="0" err="1">
                <a:solidFill>
                  <a:srgbClr val="0070C0"/>
                </a:solidFill>
              </a:rPr>
              <a:t>order_date</a:t>
            </a:r>
            <a:r>
              <a:rPr lang="en-US" sz="2200" dirty="0">
                <a:solidFill>
                  <a:srgbClr val="0070C0"/>
                </a:solidFill>
              </a:rPr>
              <a:t>)) </a:t>
            </a:r>
            <a:br>
              <a:rPr lang="en-US" sz="2200" dirty="0">
                <a:solidFill>
                  <a:srgbClr val="0070C0"/>
                </a:solidFill>
              </a:rPr>
            </a:br>
            <a:r>
              <a:rPr lang="en-US" sz="2200" dirty="0">
                <a:solidFill>
                  <a:srgbClr val="0070C0"/>
                </a:solidFill>
              </a:rPr>
              <a:t>AS </a:t>
            </a:r>
            <a:r>
              <a:rPr lang="en-US" sz="2200" dirty="0" err="1">
                <a:solidFill>
                  <a:srgbClr val="0070C0"/>
                </a:solidFill>
              </a:rPr>
              <a:t>avg_delivery_time_days</a:t>
            </a:r>
            <a:r>
              <a:rPr lang="en-US" sz="2200" dirty="0">
                <a:solidFill>
                  <a:srgbClr val="0070C0"/>
                </a:solidFill>
              </a:rPr>
              <a:t> </a:t>
            </a:r>
            <a:br>
              <a:rPr lang="en-US" sz="2200" dirty="0">
                <a:solidFill>
                  <a:srgbClr val="0070C0"/>
                </a:solidFill>
              </a:rPr>
            </a:br>
            <a:r>
              <a:rPr lang="en-US" sz="2200" dirty="0">
                <a:solidFill>
                  <a:srgbClr val="0070C0"/>
                </a:solidFill>
              </a:rPr>
              <a:t>FROM orders GROUP BY </a:t>
            </a:r>
            <a:r>
              <a:rPr lang="en-US" sz="2200" dirty="0" err="1">
                <a:solidFill>
                  <a:srgbClr val="0070C0"/>
                </a:solidFill>
              </a:rPr>
              <a:t>route_id</a:t>
            </a:r>
            <a:r>
              <a:rPr lang="en-US" sz="2200" dirty="0">
                <a:solidFill>
                  <a:srgbClr val="0070C0"/>
                </a:solidFill>
              </a:rPr>
              <a:t>;</a:t>
            </a: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r>
              <a:rPr lang="en-US" sz="2200" dirty="0"/>
              <a:t>• Insights- This query calculates the average</a:t>
            </a:r>
            <a:br>
              <a:rPr lang="en-US" sz="2200" dirty="0"/>
            </a:br>
            <a:r>
              <a:rPr lang="en-US" sz="2200" dirty="0"/>
              <a:t> delivery  time for orders on each route.</a:t>
            </a: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br>
              <a:rPr lang="en-US" sz="2200" dirty="0"/>
            </a:br>
            <a:r>
              <a:rPr lang="en-US" sz="2200" dirty="0"/>
              <a:t> </a:t>
            </a:r>
            <a:r>
              <a:rPr lang="en-US" sz="2400" b="1" dirty="0"/>
              <a:t>Task 3.1.2  Average traffic delay</a:t>
            </a:r>
            <a:br>
              <a:rPr lang="en-US" sz="2200" b="1" dirty="0"/>
            </a:br>
            <a:br>
              <a:rPr lang="en-US" sz="2200" b="1" dirty="0"/>
            </a:br>
            <a:r>
              <a:rPr lang="en-US" sz="2400" dirty="0">
                <a:solidFill>
                  <a:srgbClr val="0070C0"/>
                </a:solidFill>
              </a:rPr>
              <a:t>• </a:t>
            </a:r>
            <a:r>
              <a:rPr lang="en-US" sz="2200" dirty="0">
                <a:solidFill>
                  <a:srgbClr val="0070C0"/>
                </a:solidFill>
              </a:rPr>
              <a:t>SELECT </a:t>
            </a:r>
            <a:r>
              <a:rPr lang="en-US" sz="2200" dirty="0" err="1">
                <a:solidFill>
                  <a:srgbClr val="0070C0"/>
                </a:solidFill>
              </a:rPr>
              <a:t>route_id</a:t>
            </a:r>
            <a:r>
              <a:rPr lang="en-US" sz="2200" dirty="0">
                <a:solidFill>
                  <a:srgbClr val="0070C0"/>
                </a:solidFill>
              </a:rPr>
              <a:t>,</a:t>
            </a:r>
            <a:br>
              <a:rPr lang="en-US" sz="2200" dirty="0">
                <a:solidFill>
                  <a:srgbClr val="0070C0"/>
                </a:solidFill>
              </a:rPr>
            </a:br>
            <a:r>
              <a:rPr lang="en-US" sz="2200" dirty="0">
                <a:solidFill>
                  <a:srgbClr val="0070C0"/>
                </a:solidFill>
              </a:rPr>
              <a:t>AVG(</a:t>
            </a:r>
            <a:r>
              <a:rPr lang="en-US" sz="2200" dirty="0" err="1">
                <a:solidFill>
                  <a:srgbClr val="0070C0"/>
                </a:solidFill>
              </a:rPr>
              <a:t>traffic_delay_min</a:t>
            </a:r>
            <a:r>
              <a:rPr lang="en-US" sz="2200" dirty="0">
                <a:solidFill>
                  <a:srgbClr val="0070C0"/>
                </a:solidFill>
              </a:rPr>
              <a:t>) AS </a:t>
            </a:r>
            <a:r>
              <a:rPr lang="en-US" sz="2200" dirty="0" err="1">
                <a:solidFill>
                  <a:srgbClr val="0070C0"/>
                </a:solidFill>
              </a:rPr>
              <a:t>avg_traffic_delay</a:t>
            </a:r>
            <a:r>
              <a:rPr lang="en-US" sz="2200" dirty="0">
                <a:solidFill>
                  <a:srgbClr val="0070C0"/>
                </a:solidFill>
              </a:rPr>
              <a:t> </a:t>
            </a:r>
            <a:br>
              <a:rPr lang="en-US" sz="2200" dirty="0">
                <a:solidFill>
                  <a:srgbClr val="0070C0"/>
                </a:solidFill>
              </a:rPr>
            </a:br>
            <a:r>
              <a:rPr lang="en-US" sz="2200" dirty="0">
                <a:solidFill>
                  <a:srgbClr val="0070C0"/>
                </a:solidFill>
              </a:rPr>
              <a:t>FROM </a:t>
            </a:r>
            <a:r>
              <a:rPr lang="en-US" sz="2200" dirty="0" err="1">
                <a:solidFill>
                  <a:srgbClr val="0070C0"/>
                </a:solidFill>
              </a:rPr>
              <a:t>routesGROUP</a:t>
            </a:r>
            <a:r>
              <a:rPr lang="en-US" sz="2200" dirty="0">
                <a:solidFill>
                  <a:srgbClr val="0070C0"/>
                </a:solidFill>
              </a:rPr>
              <a:t> BY </a:t>
            </a:r>
            <a:r>
              <a:rPr lang="en-US" sz="2200" dirty="0" err="1">
                <a:solidFill>
                  <a:srgbClr val="0070C0"/>
                </a:solidFill>
              </a:rPr>
              <a:t>route_id</a:t>
            </a:r>
            <a:r>
              <a:rPr lang="en-US" sz="2200" dirty="0">
                <a:solidFill>
                  <a:srgbClr val="0070C0"/>
                </a:solidFill>
              </a:rPr>
              <a:t>;</a:t>
            </a: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r>
              <a:rPr lang="en-US" sz="2200" dirty="0"/>
              <a:t>• Insights- This analysis shows the average </a:t>
            </a:r>
            <a:br>
              <a:rPr lang="en-US" sz="2200" dirty="0"/>
            </a:br>
            <a:r>
              <a:rPr lang="en-US" sz="2200" dirty="0"/>
              <a:t>   traffic delay experienced on each route.</a:t>
            </a: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endParaRPr lang="en-US" sz="2200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5CB1DD-526C-49BC-A6BB-5E792DA95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982" y="424069"/>
            <a:ext cx="5203661" cy="28013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412A43-824E-49EE-A1ED-825DA347F4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9982" y="3456226"/>
            <a:ext cx="5203661" cy="307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378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CF54-E14B-41F3-A439-2A80DC19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" y="92765"/>
            <a:ext cx="11979965" cy="331305"/>
          </a:xfrm>
        </p:spPr>
        <p:txBody>
          <a:bodyPr anchor="t">
            <a:normAutofit fontScale="90000"/>
          </a:bodyPr>
          <a:lstStyle/>
          <a:p>
            <a:pPr>
              <a:spcBef>
                <a:spcPts val="1000"/>
              </a:spcBef>
            </a:pPr>
            <a:r>
              <a:rPr lang="en-US" sz="2200" b="1" dirty="0">
                <a:latin typeface="+mn-lt"/>
                <a:ea typeface="+mn-ea"/>
                <a:cs typeface="+mn-cs"/>
              </a:rPr>
              <a:t>Task 3.1.3 Distance-to-time efficiency ratio: </a:t>
            </a:r>
            <a:r>
              <a:rPr lang="en-US" sz="2200" b="1" dirty="0" err="1">
                <a:latin typeface="+mn-lt"/>
                <a:ea typeface="+mn-ea"/>
                <a:cs typeface="+mn-cs"/>
              </a:rPr>
              <a:t>Distance_KM</a:t>
            </a:r>
            <a:r>
              <a:rPr lang="en-US" sz="2200" b="1" dirty="0">
                <a:latin typeface="+mn-lt"/>
                <a:ea typeface="+mn-ea"/>
                <a:cs typeface="+mn-cs"/>
              </a:rPr>
              <a:t> / </a:t>
            </a:r>
            <a:r>
              <a:rPr lang="en-US" sz="2200" b="1" dirty="0" err="1">
                <a:latin typeface="+mn-lt"/>
                <a:ea typeface="+mn-ea"/>
                <a:cs typeface="+mn-cs"/>
              </a:rPr>
              <a:t>Average_Travel_Time_Min</a:t>
            </a:r>
            <a:r>
              <a:rPr lang="en-US" sz="2200" b="1" dirty="0"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1541-D774-4734-A107-B370974C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69843"/>
            <a:ext cx="12191999" cy="63411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br>
              <a:rPr lang="en-US" sz="19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• SELECT </a:t>
            </a:r>
            <a:r>
              <a:rPr lang="en-US" sz="2000" dirty="0" err="1">
                <a:solidFill>
                  <a:srgbClr val="0070C0"/>
                </a:solidFill>
              </a:rPr>
              <a:t>route_id</a:t>
            </a:r>
            <a:r>
              <a:rPr lang="en-US" sz="2000" dirty="0">
                <a:solidFill>
                  <a:srgbClr val="0070C0"/>
                </a:solidFill>
              </a:rPr>
              <a:t>,  </a:t>
            </a:r>
            <a:r>
              <a:rPr lang="en-US" sz="2000" dirty="0" err="1">
                <a:solidFill>
                  <a:srgbClr val="0070C0"/>
                </a:solidFill>
              </a:rPr>
              <a:t>distance_km</a:t>
            </a:r>
            <a:r>
              <a:rPr lang="en-US" sz="2000" dirty="0">
                <a:solidFill>
                  <a:srgbClr val="0070C0"/>
                </a:solidFill>
              </a:rPr>
              <a:t>,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 err="1">
                <a:solidFill>
                  <a:srgbClr val="0070C0"/>
                </a:solidFill>
              </a:rPr>
              <a:t>average_travel_time_min</a:t>
            </a:r>
            <a:r>
              <a:rPr lang="en-US" sz="2000" dirty="0">
                <a:solidFill>
                  <a:srgbClr val="0070C0"/>
                </a:solidFill>
              </a:rPr>
              <a:t>,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(</a:t>
            </a:r>
            <a:r>
              <a:rPr lang="en-US" sz="2000" dirty="0" err="1">
                <a:solidFill>
                  <a:srgbClr val="0070C0"/>
                </a:solidFill>
              </a:rPr>
              <a:t>distance_km</a:t>
            </a:r>
            <a:r>
              <a:rPr lang="en-US" sz="2000" dirty="0">
                <a:solidFill>
                  <a:srgbClr val="0070C0"/>
                </a:solidFill>
              </a:rPr>
              <a:t> / </a:t>
            </a:r>
            <a:r>
              <a:rPr lang="en-US" sz="2000" dirty="0" err="1">
                <a:solidFill>
                  <a:srgbClr val="0070C0"/>
                </a:solidFill>
              </a:rPr>
              <a:t>average_travel_time_min</a:t>
            </a:r>
            <a:r>
              <a:rPr lang="en-US" sz="2000" dirty="0">
                <a:solidFill>
                  <a:srgbClr val="0070C0"/>
                </a:solidFill>
              </a:rPr>
              <a:t>) 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AS </a:t>
            </a:r>
            <a:r>
              <a:rPr lang="en-US" sz="2000" dirty="0" err="1">
                <a:solidFill>
                  <a:srgbClr val="0070C0"/>
                </a:solidFill>
              </a:rPr>
              <a:t>efficiency_ratio</a:t>
            </a:r>
            <a:r>
              <a:rPr lang="en-US" sz="2000" dirty="0">
                <a:solidFill>
                  <a:srgbClr val="0070C0"/>
                </a:solidFill>
              </a:rPr>
              <a:t> FROM routes;</a:t>
            </a: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1900" dirty="0">
                <a:solidFill>
                  <a:srgbClr val="0070C0"/>
                </a:solidFill>
              </a:rPr>
            </a:br>
            <a:r>
              <a:rPr lang="en-US" sz="2000" dirty="0"/>
              <a:t>• Insights- </a:t>
            </a:r>
            <a:br>
              <a:rPr lang="en-US" sz="2000" dirty="0"/>
            </a:br>
            <a:r>
              <a:rPr lang="en-US" sz="2000" dirty="0"/>
              <a:t>    -Efficiency ratio measures route efficiency based</a:t>
            </a:r>
            <a:br>
              <a:rPr lang="en-US" sz="2000" dirty="0"/>
            </a:br>
            <a:r>
              <a:rPr lang="en-US" sz="2000" dirty="0"/>
              <a:t>     on distance travelled per minute.</a:t>
            </a:r>
          </a:p>
          <a:p>
            <a:pPr marL="0" indent="0">
              <a:buNone/>
            </a:pPr>
            <a:r>
              <a:rPr lang="en-US" sz="2000" dirty="0"/>
              <a:t>    -Higher ratios indicate more efficient routes.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 </a:t>
            </a:r>
            <a:r>
              <a:rPr lang="en-US" sz="2200" b="1" dirty="0"/>
              <a:t>Task 3.2 Identify 3 routes with the worst efficiency </a:t>
            </a:r>
            <a:br>
              <a:rPr lang="en-US" sz="2200" b="1" dirty="0"/>
            </a:br>
            <a:r>
              <a:rPr lang="en-US" sz="2200" b="1" dirty="0"/>
              <a:t>  ratio.</a:t>
            </a:r>
            <a:br>
              <a:rPr lang="en-US" sz="2200" b="1" dirty="0"/>
            </a:br>
            <a:br>
              <a:rPr lang="en-US" sz="2200" b="1" dirty="0"/>
            </a:br>
            <a:r>
              <a:rPr lang="en-US" sz="2200" b="1" dirty="0"/>
              <a:t> </a:t>
            </a:r>
            <a:r>
              <a:rPr lang="en-US" sz="2000" dirty="0">
                <a:solidFill>
                  <a:srgbClr val="0070C0"/>
                </a:solidFill>
              </a:rPr>
              <a:t>• SELECT </a:t>
            </a:r>
            <a:r>
              <a:rPr lang="en-US" sz="2000" dirty="0" err="1">
                <a:solidFill>
                  <a:srgbClr val="0070C0"/>
                </a:solidFill>
              </a:rPr>
              <a:t>route_id,distance_km</a:t>
            </a:r>
            <a:r>
              <a:rPr lang="en-US" sz="2000" dirty="0">
                <a:solidFill>
                  <a:srgbClr val="0070C0"/>
                </a:solidFill>
              </a:rPr>
              <a:t>, </a:t>
            </a:r>
            <a:r>
              <a:rPr lang="en-US" sz="2000" dirty="0" err="1">
                <a:solidFill>
                  <a:srgbClr val="0070C0"/>
                </a:solidFill>
              </a:rPr>
              <a:t>average_travel_time_min</a:t>
            </a:r>
            <a:r>
              <a:rPr lang="en-US" sz="2000" dirty="0">
                <a:solidFill>
                  <a:srgbClr val="0070C0"/>
                </a:solidFill>
              </a:rPr>
              <a:t>,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(</a:t>
            </a:r>
            <a:r>
              <a:rPr lang="en-US" sz="2000" dirty="0" err="1">
                <a:solidFill>
                  <a:srgbClr val="0070C0"/>
                </a:solidFill>
              </a:rPr>
              <a:t>distance_km</a:t>
            </a:r>
            <a:r>
              <a:rPr lang="en-US" sz="2000" dirty="0">
                <a:solidFill>
                  <a:srgbClr val="0070C0"/>
                </a:solidFill>
              </a:rPr>
              <a:t> / </a:t>
            </a:r>
            <a:r>
              <a:rPr lang="en-US" sz="2000" dirty="0" err="1">
                <a:solidFill>
                  <a:srgbClr val="0070C0"/>
                </a:solidFill>
              </a:rPr>
              <a:t>average_travel_time_min</a:t>
            </a:r>
            <a:r>
              <a:rPr lang="en-US" sz="2000" dirty="0">
                <a:solidFill>
                  <a:srgbClr val="0070C0"/>
                </a:solidFill>
              </a:rPr>
              <a:t>) AS </a:t>
            </a:r>
            <a:r>
              <a:rPr lang="en-US" sz="2000" dirty="0" err="1">
                <a:solidFill>
                  <a:srgbClr val="0070C0"/>
                </a:solidFill>
              </a:rPr>
              <a:t>efficiency_ratio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FROM routes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ORDER BY </a:t>
            </a:r>
            <a:r>
              <a:rPr lang="en-US" sz="2000" dirty="0" err="1">
                <a:solidFill>
                  <a:srgbClr val="0070C0"/>
                </a:solidFill>
              </a:rPr>
              <a:t>efficiency_ratio</a:t>
            </a:r>
            <a:r>
              <a:rPr lang="en-US" sz="2000" dirty="0">
                <a:solidFill>
                  <a:srgbClr val="0070C0"/>
                </a:solidFill>
              </a:rPr>
              <a:t> ASC LIMIT 3;</a:t>
            </a: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endParaRPr lang="en-US" sz="2000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5777B2-7F67-4E64-B3A0-101586B71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6214" y="569843"/>
            <a:ext cx="5806759" cy="29552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621641-8ECC-4BB2-AC01-66E5443A13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077" y="3829879"/>
            <a:ext cx="5459896" cy="308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916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CF54-E14B-41F3-A439-2A80DC19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92765" y="-106016"/>
            <a:ext cx="11979965" cy="106018"/>
          </a:xfrm>
        </p:spPr>
        <p:txBody>
          <a:bodyPr anchor="t">
            <a:normAutofit fontScale="90000"/>
          </a:bodyPr>
          <a:lstStyle/>
          <a:p>
            <a:endParaRPr lang="en-US" sz="2800" b="1" dirty="0"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1541-D774-4734-A107-B370974C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08" y="0"/>
            <a:ext cx="12138992" cy="6765235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sz="1800" dirty="0">
                <a:solidFill>
                  <a:srgbClr val="0070C0"/>
                </a:solidFill>
              </a:rPr>
            </a:br>
            <a:br>
              <a:rPr lang="en-US" sz="1800" dirty="0">
                <a:solidFill>
                  <a:srgbClr val="0070C0"/>
                </a:solidFill>
              </a:rPr>
            </a:br>
            <a:r>
              <a:rPr lang="en-US" sz="2400" dirty="0"/>
              <a:t>• Insights- Routes with the lowest efficiency </a:t>
            </a:r>
            <a:br>
              <a:rPr lang="en-US" sz="2400" dirty="0"/>
            </a:br>
            <a:r>
              <a:rPr lang="en-US" sz="2400" dirty="0"/>
              <a:t>   ratios indicate poor route performance </a:t>
            </a:r>
            <a:br>
              <a:rPr lang="en-US" sz="2400" dirty="0"/>
            </a:br>
            <a:r>
              <a:rPr lang="en-US" sz="2400" dirty="0"/>
              <a:t>   and may require optimization</a:t>
            </a:r>
            <a:r>
              <a:rPr lang="en-US" sz="1800" dirty="0"/>
              <a:t>.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2200" dirty="0"/>
              <a:t>   </a:t>
            </a:r>
            <a:r>
              <a:rPr lang="en-US" sz="2200" b="1" dirty="0"/>
              <a:t>Task 3.3 Find routes with &gt;20% delayed shipments</a:t>
            </a:r>
            <a:br>
              <a:rPr lang="en-US" sz="2000" b="1" dirty="0"/>
            </a:br>
            <a:br>
              <a:rPr lang="en-US" sz="2000" b="1" dirty="0"/>
            </a:br>
            <a:r>
              <a:rPr lang="en-US" sz="2000" b="1" dirty="0"/>
              <a:t> </a:t>
            </a:r>
            <a:r>
              <a:rPr lang="en-US" sz="2400" dirty="0">
                <a:solidFill>
                  <a:srgbClr val="0070C0"/>
                </a:solidFill>
              </a:rPr>
              <a:t>• SELECT </a:t>
            </a:r>
            <a:r>
              <a:rPr lang="en-US" sz="2400" dirty="0" err="1">
                <a:solidFill>
                  <a:srgbClr val="0070C0"/>
                </a:solidFill>
              </a:rPr>
              <a:t>route_id</a:t>
            </a:r>
            <a:r>
              <a:rPr lang="en-US" sz="2400" dirty="0">
                <a:solidFill>
                  <a:srgbClr val="0070C0"/>
                </a:solidFill>
              </a:rPr>
              <a:t>,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AVG(</a:t>
            </a:r>
            <a:r>
              <a:rPr lang="en-US" sz="2400" dirty="0" err="1">
                <a:solidFill>
                  <a:srgbClr val="0070C0"/>
                </a:solidFill>
              </a:rPr>
              <a:t>actual_delivery_date</a:t>
            </a:r>
            <a:r>
              <a:rPr lang="en-US" sz="2400" dirty="0">
                <a:solidFill>
                  <a:srgbClr val="0070C0"/>
                </a:solidFill>
              </a:rPr>
              <a:t> &gt; 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</a:t>
            </a:r>
            <a:r>
              <a:rPr lang="en-US" sz="2400" dirty="0" err="1">
                <a:solidFill>
                  <a:srgbClr val="0070C0"/>
                </a:solidFill>
              </a:rPr>
              <a:t>expected_delivery_date</a:t>
            </a:r>
            <a:r>
              <a:rPr lang="en-US" sz="2400" dirty="0">
                <a:solidFill>
                  <a:srgbClr val="0070C0"/>
                </a:solidFill>
              </a:rPr>
              <a:t>) * 100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AS </a:t>
            </a:r>
            <a:r>
              <a:rPr lang="en-US" sz="2400" dirty="0" err="1">
                <a:solidFill>
                  <a:srgbClr val="0070C0"/>
                </a:solidFill>
              </a:rPr>
              <a:t>delay_percentage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FROM orders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GROUP BY </a:t>
            </a:r>
            <a:r>
              <a:rPr lang="en-US" sz="2400" dirty="0" err="1">
                <a:solidFill>
                  <a:srgbClr val="0070C0"/>
                </a:solidFill>
              </a:rPr>
              <a:t>route_id</a:t>
            </a:r>
            <a:r>
              <a:rPr lang="en-US" sz="2400" dirty="0">
                <a:solidFill>
                  <a:srgbClr val="0070C0"/>
                </a:solidFill>
              </a:rPr>
              <a:t> 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HAVING </a:t>
            </a:r>
            <a:r>
              <a:rPr lang="en-US" sz="2400" dirty="0" err="1">
                <a:solidFill>
                  <a:srgbClr val="0070C0"/>
                </a:solidFill>
              </a:rPr>
              <a:t>delay_percentage</a:t>
            </a:r>
            <a:r>
              <a:rPr lang="en-US" sz="2400" dirty="0">
                <a:solidFill>
                  <a:srgbClr val="0070C0"/>
                </a:solidFill>
              </a:rPr>
              <a:t> &gt; 20;</a:t>
            </a:r>
            <a:br>
              <a:rPr lang="en-US" sz="2400" dirty="0"/>
            </a:br>
            <a:endParaRPr lang="en-US" sz="2400" dirty="0">
              <a:solidFill>
                <a:srgbClr val="0070C0"/>
              </a:solidFill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9557B76-A29A-46EC-8A37-D0B840EDC3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8085984"/>
              </p:ext>
            </p:extLst>
          </p:nvPr>
        </p:nvGraphicFramePr>
        <p:xfrm>
          <a:off x="6042990" y="241853"/>
          <a:ext cx="489585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40DDD39-C76F-49C0-9EDF-5C763C9C91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470" y="3576198"/>
            <a:ext cx="5923722" cy="3189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93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CF54-E14B-41F3-A439-2A80DC19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92765" y="-106016"/>
            <a:ext cx="11979965" cy="106018"/>
          </a:xfrm>
        </p:spPr>
        <p:txBody>
          <a:bodyPr anchor="t">
            <a:normAutofit fontScale="90000"/>
          </a:bodyPr>
          <a:lstStyle/>
          <a:p>
            <a:endParaRPr lang="en-US" sz="2800" b="1" dirty="0">
              <a:latin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1541-D774-4734-A107-B370974C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08" y="0"/>
            <a:ext cx="12138992" cy="6765235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br>
              <a:rPr lang="en-US" sz="1800" dirty="0">
                <a:solidFill>
                  <a:srgbClr val="0070C0"/>
                </a:solidFill>
              </a:rPr>
            </a:br>
            <a:br>
              <a:rPr lang="en-US" sz="1800" dirty="0">
                <a:solidFill>
                  <a:srgbClr val="0070C0"/>
                </a:solidFill>
              </a:rPr>
            </a:br>
            <a:br>
              <a:rPr lang="en-US" sz="1800" dirty="0">
                <a:solidFill>
                  <a:srgbClr val="0070C0"/>
                </a:solidFill>
              </a:rPr>
            </a:br>
            <a:br>
              <a:rPr lang="en-US" sz="1800" dirty="0">
                <a:solidFill>
                  <a:srgbClr val="0070C0"/>
                </a:solidFill>
              </a:rPr>
            </a:br>
            <a:r>
              <a:rPr lang="en-US" sz="2400" dirty="0"/>
              <a:t>Insights- Routes with more than 20% delayed </a:t>
            </a:r>
            <a:br>
              <a:rPr lang="en-US" sz="2400" dirty="0"/>
            </a:br>
            <a:r>
              <a:rPr lang="en-US" sz="2400" dirty="0"/>
              <a:t>shipments were identified as high-risk routes </a:t>
            </a:r>
            <a:br>
              <a:rPr lang="en-US" sz="2400" dirty="0"/>
            </a:br>
            <a:r>
              <a:rPr lang="en-US" sz="2400" dirty="0"/>
              <a:t>requiring operational improvement.</a:t>
            </a: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1800" dirty="0">
                <a:solidFill>
                  <a:srgbClr val="0070C0"/>
                </a:solidFill>
              </a:rPr>
            </a:br>
            <a:br>
              <a:rPr lang="en-US" sz="1800" dirty="0">
                <a:solidFill>
                  <a:srgbClr val="0070C0"/>
                </a:solidFill>
              </a:rPr>
            </a:br>
            <a:br>
              <a:rPr lang="en-US" sz="1800" dirty="0">
                <a:solidFill>
                  <a:srgbClr val="0070C0"/>
                </a:solidFill>
              </a:rPr>
            </a:br>
            <a:br>
              <a:rPr lang="en-US" sz="1800" dirty="0">
                <a:solidFill>
                  <a:srgbClr val="0070C0"/>
                </a:solidFill>
              </a:rPr>
            </a:br>
            <a:br>
              <a:rPr lang="en-US" sz="1800" dirty="0">
                <a:solidFill>
                  <a:srgbClr val="0070C0"/>
                </a:solidFill>
              </a:rPr>
            </a:br>
            <a:br>
              <a:rPr lang="en-US" sz="1800" dirty="0">
                <a:solidFill>
                  <a:srgbClr val="0070C0"/>
                </a:solidFill>
              </a:rPr>
            </a:br>
            <a:br>
              <a:rPr lang="en-US" sz="1800" dirty="0">
                <a:solidFill>
                  <a:srgbClr val="0070C0"/>
                </a:solidFill>
              </a:rPr>
            </a:br>
            <a:br>
              <a:rPr lang="en-US" sz="1800" dirty="0">
                <a:solidFill>
                  <a:srgbClr val="0070C0"/>
                </a:solidFill>
              </a:rPr>
            </a:br>
            <a:br>
              <a:rPr lang="en-US" sz="1800" dirty="0">
                <a:solidFill>
                  <a:srgbClr val="0070C0"/>
                </a:solidFill>
              </a:rPr>
            </a:br>
            <a:br>
              <a:rPr lang="en-US" sz="1800" dirty="0">
                <a:solidFill>
                  <a:srgbClr val="0070C0"/>
                </a:solidFill>
              </a:rPr>
            </a:br>
            <a:br>
              <a:rPr lang="en-US" sz="1800" dirty="0">
                <a:solidFill>
                  <a:srgbClr val="0070C0"/>
                </a:solidFill>
              </a:rPr>
            </a:br>
            <a:r>
              <a:rPr lang="en-US" b="1" dirty="0"/>
              <a:t>Task 3.4 Recommend potential routes for optimization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Routes with low efficiency ratios and high delay percentages indicate operational inefficiencies.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Potential improvements include: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• Optimizing route planning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• Reducing traffic congestion impact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• Improving warehouse dispatch coordination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898AA019-6CB0-4B89-8F8C-ACBEB4F98F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1686173"/>
              </p:ext>
            </p:extLst>
          </p:nvPr>
        </p:nvGraphicFramePr>
        <p:xfrm>
          <a:off x="5890591" y="106018"/>
          <a:ext cx="5903844" cy="32169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247154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CF54-E14B-41F3-A439-2A80DC19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" y="1"/>
            <a:ext cx="11979965" cy="424069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</a:rPr>
              <a:t>Task 4: Warehouse Performance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1541-D774-4734-A107-B370974C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3" y="331305"/>
            <a:ext cx="11953460" cy="6433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Task 4.1: Find the top 3 warehouses with the highest average processing time</a:t>
            </a:r>
            <a:br>
              <a:rPr lang="en-US" sz="2200" b="1" dirty="0"/>
            </a:br>
            <a:br>
              <a:rPr lang="en-US" sz="2200" b="1" dirty="0"/>
            </a:br>
            <a:r>
              <a:rPr lang="en-US" sz="2400" dirty="0">
                <a:solidFill>
                  <a:srgbClr val="0070C0"/>
                </a:solidFill>
              </a:rPr>
              <a:t>• SELECT </a:t>
            </a:r>
            <a:r>
              <a:rPr lang="en-US" sz="2400" dirty="0" err="1">
                <a:solidFill>
                  <a:srgbClr val="0070C0"/>
                </a:solidFill>
              </a:rPr>
              <a:t>warehouse_id</a:t>
            </a:r>
            <a:r>
              <a:rPr lang="en-US" sz="2400" dirty="0">
                <a:solidFill>
                  <a:srgbClr val="0070C0"/>
                </a:solidFill>
              </a:rPr>
              <a:t>,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 err="1">
                <a:solidFill>
                  <a:srgbClr val="0070C0"/>
                </a:solidFill>
              </a:rPr>
              <a:t>location,processing_time_min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FROM warehouses 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ORDER BY </a:t>
            </a:r>
            <a:r>
              <a:rPr lang="en-US" sz="2400" dirty="0" err="1">
                <a:solidFill>
                  <a:srgbClr val="0070C0"/>
                </a:solidFill>
              </a:rPr>
              <a:t>processing_time_min</a:t>
            </a:r>
            <a:r>
              <a:rPr lang="en-US" sz="2400" dirty="0">
                <a:solidFill>
                  <a:srgbClr val="0070C0"/>
                </a:solidFill>
              </a:rPr>
              <a:t> DESC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LIMIT 3;</a:t>
            </a: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000" dirty="0"/>
              <a:t>• Insights- Warehouses with the highest processing times </a:t>
            </a:r>
            <a:br>
              <a:rPr lang="en-US" sz="2000" dirty="0"/>
            </a:br>
            <a:r>
              <a:rPr lang="en-US" sz="2000" dirty="0"/>
              <a:t>   may cause delays in shipment dispatch and </a:t>
            </a:r>
            <a:br>
              <a:rPr lang="en-US" sz="2000" dirty="0"/>
            </a:br>
            <a:r>
              <a:rPr lang="en-US" sz="2000" dirty="0"/>
              <a:t>   should be optimized.</a:t>
            </a:r>
            <a:endParaRPr lang="en-US" sz="2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9A7262-3A28-4F20-9428-1D5E8C20D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3722" y="738807"/>
            <a:ext cx="5671930" cy="2809462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A9DA2EF-2735-4B31-8701-6172A4CB99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1083687"/>
              </p:ext>
            </p:extLst>
          </p:nvPr>
        </p:nvGraphicFramePr>
        <p:xfrm>
          <a:off x="6427304" y="3785151"/>
          <a:ext cx="4916557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930224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CF54-E14B-41F3-A439-2A80DC19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" y="1"/>
            <a:ext cx="11979965" cy="424069"/>
          </a:xfrm>
        </p:spPr>
        <p:txBody>
          <a:bodyPr anchor="t">
            <a:normAutofit/>
          </a:bodyPr>
          <a:lstStyle/>
          <a:p>
            <a:r>
              <a:rPr lang="en-US" sz="2200" b="1" dirty="0">
                <a:latin typeface="+mn-lt"/>
                <a:ea typeface="+mn-ea"/>
                <a:cs typeface="+mn-cs"/>
              </a:rPr>
              <a:t>Task 4.2: Calculate total vs. delayed shipments for each warehouse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1541-D774-4734-A107-B370974C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3" y="424070"/>
            <a:ext cx="11953460" cy="634116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sz="1800" dirty="0">
                <a:solidFill>
                  <a:srgbClr val="0070C0"/>
                </a:solidFill>
              </a:rPr>
            </a:br>
            <a:br>
              <a:rPr lang="en-US" sz="1800" dirty="0">
                <a:solidFill>
                  <a:srgbClr val="0070C0"/>
                </a:solidFill>
              </a:rPr>
            </a:br>
            <a:br>
              <a:rPr lang="en-US" sz="18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• SELECT  </a:t>
            </a:r>
            <a:r>
              <a:rPr lang="en-US" sz="2000" dirty="0" err="1">
                <a:solidFill>
                  <a:srgbClr val="0070C0"/>
                </a:solidFill>
              </a:rPr>
              <a:t>warehouse_id</a:t>
            </a:r>
            <a:r>
              <a:rPr lang="en-US" sz="2000" dirty="0">
                <a:solidFill>
                  <a:srgbClr val="0070C0"/>
                </a:solidFill>
              </a:rPr>
              <a:t>,  COUNT(*) AS </a:t>
            </a:r>
            <a:r>
              <a:rPr lang="en-US" sz="2000" dirty="0" err="1">
                <a:solidFill>
                  <a:srgbClr val="0070C0"/>
                </a:solidFill>
              </a:rPr>
              <a:t>total_shipments</a:t>
            </a:r>
            <a:r>
              <a:rPr lang="en-US" sz="2000" dirty="0">
                <a:solidFill>
                  <a:srgbClr val="0070C0"/>
                </a:solidFill>
              </a:rPr>
              <a:t>,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   SUM(</a:t>
            </a:r>
            <a:r>
              <a:rPr lang="en-US" sz="2000" dirty="0" err="1">
                <a:solidFill>
                  <a:srgbClr val="0070C0"/>
                </a:solidFill>
              </a:rPr>
              <a:t>actual_delivery_date</a:t>
            </a:r>
            <a:r>
              <a:rPr lang="en-US" sz="2000" dirty="0">
                <a:solidFill>
                  <a:srgbClr val="0070C0"/>
                </a:solidFill>
              </a:rPr>
              <a:t> &gt; </a:t>
            </a:r>
            <a:r>
              <a:rPr lang="en-US" sz="2000" dirty="0" err="1">
                <a:solidFill>
                  <a:srgbClr val="0070C0"/>
                </a:solidFill>
              </a:rPr>
              <a:t>expected_delivery_date</a:t>
            </a:r>
            <a:r>
              <a:rPr lang="en-US" sz="2000" dirty="0">
                <a:solidFill>
                  <a:srgbClr val="0070C0"/>
                </a:solidFill>
              </a:rPr>
              <a:t>) 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   AS </a:t>
            </a:r>
            <a:r>
              <a:rPr lang="en-US" sz="2000" dirty="0" err="1">
                <a:solidFill>
                  <a:srgbClr val="0070C0"/>
                </a:solidFill>
              </a:rPr>
              <a:t>delayed_shipments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   FROM orders 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   GROUP BY </a:t>
            </a:r>
            <a:r>
              <a:rPr lang="en-US" sz="2000" dirty="0" err="1">
                <a:solidFill>
                  <a:srgbClr val="0070C0"/>
                </a:solidFill>
              </a:rPr>
              <a:t>warehouse_id</a:t>
            </a:r>
            <a:r>
              <a:rPr lang="en-US" sz="2000" dirty="0">
                <a:solidFill>
                  <a:srgbClr val="0070C0"/>
                </a:solidFill>
              </a:rPr>
              <a:t>;</a:t>
            </a: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200" dirty="0"/>
              <a:t>Insights- Some warehouses handle a higher number </a:t>
            </a:r>
            <a:br>
              <a:rPr lang="en-US" sz="2200" dirty="0"/>
            </a:br>
            <a:r>
              <a:rPr lang="en-US" sz="2200" dirty="0"/>
              <a:t>   of delayed shipments, indicating possible</a:t>
            </a:r>
            <a:br>
              <a:rPr lang="en-US" sz="2200" dirty="0"/>
            </a:br>
            <a:r>
              <a:rPr lang="en-US" sz="2200" dirty="0"/>
              <a:t>   operational inefficiencies.</a:t>
            </a:r>
            <a:endParaRPr lang="en-US" sz="2200" dirty="0">
              <a:solidFill>
                <a:srgbClr val="0070C0"/>
              </a:solidFill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CAEDE71-B99B-4A40-88B7-CEF9AAADBA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50676257"/>
              </p:ext>
            </p:extLst>
          </p:nvPr>
        </p:nvGraphicFramePr>
        <p:xfrm>
          <a:off x="6095999" y="3865561"/>
          <a:ext cx="5678557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8D753D4-107F-4E5E-98C8-2756DA3BE3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424070"/>
            <a:ext cx="5678557" cy="319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7974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CF54-E14B-41F3-A439-2A80DC19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" y="119269"/>
            <a:ext cx="11979965" cy="437321"/>
          </a:xfrm>
        </p:spPr>
        <p:txBody>
          <a:bodyPr anchor="t">
            <a:normAutofit/>
          </a:bodyPr>
          <a:lstStyle/>
          <a:p>
            <a:r>
              <a:rPr lang="en-US" sz="2200" b="1" dirty="0">
                <a:latin typeface="+mn-lt"/>
                <a:ea typeface="+mn-ea"/>
                <a:cs typeface="+mn-cs"/>
              </a:rPr>
              <a:t>Task 4.3 Use CTEs to find bottleneck warehouses where processing time &gt; global average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1541-D774-4734-A107-B370974C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3" y="664195"/>
            <a:ext cx="11953460" cy="619380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• WITH </a:t>
            </a:r>
            <a:r>
              <a:rPr lang="en-US" dirty="0" err="1">
                <a:solidFill>
                  <a:srgbClr val="0070C0"/>
                </a:solidFill>
              </a:rPr>
              <a:t>avg_processing</a:t>
            </a:r>
            <a:r>
              <a:rPr lang="en-US" dirty="0">
                <a:solidFill>
                  <a:srgbClr val="0070C0"/>
                </a:solidFill>
              </a:rPr>
              <a:t> AS 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   (SELECT AVG(</a:t>
            </a:r>
            <a:r>
              <a:rPr lang="en-US" dirty="0" err="1">
                <a:solidFill>
                  <a:srgbClr val="0070C0"/>
                </a:solidFill>
              </a:rPr>
              <a:t>processing_time_min</a:t>
            </a:r>
            <a:r>
              <a:rPr lang="en-US" dirty="0">
                <a:solidFill>
                  <a:srgbClr val="0070C0"/>
                </a:solidFill>
              </a:rPr>
              <a:t>) 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   AS </a:t>
            </a:r>
            <a:r>
              <a:rPr lang="en-US" dirty="0" err="1">
                <a:solidFill>
                  <a:srgbClr val="0070C0"/>
                </a:solidFill>
              </a:rPr>
              <a:t>global_avg</a:t>
            </a:r>
            <a:r>
              <a:rPr lang="en-US" dirty="0">
                <a:solidFill>
                  <a:srgbClr val="0070C0"/>
                </a:solidFill>
              </a:rPr>
              <a:t> FROM warehouses)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   SELECT </a:t>
            </a:r>
            <a:r>
              <a:rPr lang="en-US" dirty="0" err="1">
                <a:solidFill>
                  <a:srgbClr val="0070C0"/>
                </a:solidFill>
              </a:rPr>
              <a:t>warehouse_id,location</a:t>
            </a:r>
            <a:r>
              <a:rPr lang="en-US" dirty="0">
                <a:solidFill>
                  <a:srgbClr val="0070C0"/>
                </a:solidFill>
              </a:rPr>
              <a:t>,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   </a:t>
            </a:r>
            <a:r>
              <a:rPr lang="en-US" dirty="0" err="1">
                <a:solidFill>
                  <a:srgbClr val="0070C0"/>
                </a:solidFill>
              </a:rPr>
              <a:t>processing_time_min</a:t>
            </a:r>
            <a:r>
              <a:rPr lang="en-US" dirty="0">
                <a:solidFill>
                  <a:srgbClr val="0070C0"/>
                </a:solidFill>
              </a:rPr>
              <a:t> 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   FROM warehouses, </a:t>
            </a:r>
            <a:r>
              <a:rPr lang="en-US" dirty="0" err="1">
                <a:solidFill>
                  <a:srgbClr val="0070C0"/>
                </a:solidFill>
              </a:rPr>
              <a:t>avg_processing</a:t>
            </a:r>
            <a:r>
              <a:rPr lang="en-US" dirty="0">
                <a:solidFill>
                  <a:srgbClr val="0070C0"/>
                </a:solidFill>
              </a:rPr>
              <a:t> 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   WHERE </a:t>
            </a:r>
            <a:r>
              <a:rPr lang="en-US" dirty="0" err="1">
                <a:solidFill>
                  <a:srgbClr val="0070C0"/>
                </a:solidFill>
              </a:rPr>
              <a:t>processing_time_min</a:t>
            </a:r>
            <a:r>
              <a:rPr lang="en-US" dirty="0">
                <a:solidFill>
                  <a:srgbClr val="0070C0"/>
                </a:solidFill>
              </a:rPr>
              <a:t> &gt; </a:t>
            </a:r>
            <a:r>
              <a:rPr lang="en-US" dirty="0" err="1">
                <a:solidFill>
                  <a:srgbClr val="0070C0"/>
                </a:solidFill>
              </a:rPr>
              <a:t>global_avg</a:t>
            </a:r>
            <a:r>
              <a:rPr lang="en-US" dirty="0">
                <a:solidFill>
                  <a:srgbClr val="0070C0"/>
                </a:solidFill>
              </a:rPr>
              <a:t> ;</a:t>
            </a:r>
            <a:br>
              <a:rPr lang="en-US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r>
              <a:rPr lang="en-US" dirty="0"/>
              <a:t>• Insights- Warehouses with processing time higher than the global average are identified as bottlenecks in the logistics network.</a:t>
            </a:r>
            <a:endParaRPr lang="en-US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76DAF5-C3F8-4B7B-A549-B30F83FC4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739" y="664195"/>
            <a:ext cx="6553200" cy="425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7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CF54-E14B-41F3-A439-2A80DC19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" y="1"/>
            <a:ext cx="11979965" cy="424069"/>
          </a:xfrm>
        </p:spPr>
        <p:txBody>
          <a:bodyPr anchor="t">
            <a:normAutofit/>
          </a:bodyPr>
          <a:lstStyle/>
          <a:p>
            <a:r>
              <a:rPr lang="en-US" sz="2200" b="1" dirty="0">
                <a:latin typeface="+mn-lt"/>
                <a:ea typeface="+mn-ea"/>
                <a:cs typeface="+mn-cs"/>
              </a:rPr>
              <a:t>Task 4.4 Rank warehouses based on on-time delivery percentage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1541-D774-4734-A107-B370974C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765" y="331305"/>
            <a:ext cx="11940208" cy="6433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70C0"/>
                </a:solidFill>
              </a:rPr>
              <a:t>SELECT </a:t>
            </a:r>
            <a:r>
              <a:rPr lang="en-US" sz="2000" dirty="0" err="1">
                <a:solidFill>
                  <a:srgbClr val="0070C0"/>
                </a:solidFill>
              </a:rPr>
              <a:t>warehouse_id</a:t>
            </a:r>
            <a:r>
              <a:rPr lang="en-US" sz="2000" dirty="0">
                <a:solidFill>
                  <a:srgbClr val="0070C0"/>
                </a:solidFill>
              </a:rPr>
              <a:t>, 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AVG(</a:t>
            </a:r>
            <a:r>
              <a:rPr lang="en-US" sz="2000" dirty="0" err="1">
                <a:solidFill>
                  <a:srgbClr val="0070C0"/>
                </a:solidFill>
              </a:rPr>
              <a:t>actual_delivery_date</a:t>
            </a:r>
            <a:r>
              <a:rPr lang="en-US" sz="2000" dirty="0">
                <a:solidFill>
                  <a:srgbClr val="0070C0"/>
                </a:solidFill>
              </a:rPr>
              <a:t> &lt;= </a:t>
            </a:r>
            <a:r>
              <a:rPr lang="en-US" sz="2000" dirty="0" err="1">
                <a:solidFill>
                  <a:srgbClr val="0070C0"/>
                </a:solidFill>
              </a:rPr>
              <a:t>expected_delivery_date</a:t>
            </a:r>
            <a:r>
              <a:rPr lang="en-US" sz="2000" dirty="0">
                <a:solidFill>
                  <a:srgbClr val="0070C0"/>
                </a:solidFill>
              </a:rPr>
              <a:t>) * 100 AS </a:t>
            </a:r>
            <a:r>
              <a:rPr lang="en-US" sz="2000" dirty="0" err="1">
                <a:solidFill>
                  <a:srgbClr val="0070C0"/>
                </a:solidFill>
              </a:rPr>
              <a:t>on_time_percentage</a:t>
            </a:r>
            <a:r>
              <a:rPr lang="en-US" sz="2000" dirty="0">
                <a:solidFill>
                  <a:srgbClr val="0070C0"/>
                </a:solidFill>
              </a:rPr>
              <a:t>,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RANK() OVER(ORDER BY AVG(</a:t>
            </a:r>
            <a:r>
              <a:rPr lang="en-US" sz="2000" dirty="0" err="1">
                <a:solidFill>
                  <a:srgbClr val="0070C0"/>
                </a:solidFill>
              </a:rPr>
              <a:t>actual_delivery_date</a:t>
            </a:r>
            <a:r>
              <a:rPr lang="en-US" sz="2000" dirty="0">
                <a:solidFill>
                  <a:srgbClr val="0070C0"/>
                </a:solidFill>
              </a:rPr>
              <a:t> &lt;= </a:t>
            </a:r>
            <a:r>
              <a:rPr lang="en-US" sz="2000" dirty="0" err="1">
                <a:solidFill>
                  <a:srgbClr val="0070C0"/>
                </a:solidFill>
              </a:rPr>
              <a:t>expected_delivery_date</a:t>
            </a:r>
            <a:r>
              <a:rPr lang="en-US" sz="2000" dirty="0">
                <a:solidFill>
                  <a:srgbClr val="0070C0"/>
                </a:solidFill>
              </a:rPr>
              <a:t>) DESC)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AS </a:t>
            </a:r>
            <a:r>
              <a:rPr lang="en-US" sz="2000" dirty="0" err="1">
                <a:solidFill>
                  <a:srgbClr val="0070C0"/>
                </a:solidFill>
              </a:rPr>
              <a:t>warehouse_rank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FROM orders 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GROUP BY </a:t>
            </a:r>
            <a:r>
              <a:rPr lang="en-US" sz="2000" dirty="0" err="1">
                <a:solidFill>
                  <a:srgbClr val="0070C0"/>
                </a:solidFill>
              </a:rPr>
              <a:t>warehouse_id</a:t>
            </a:r>
            <a:r>
              <a:rPr lang="en-US" sz="2000" dirty="0">
                <a:solidFill>
                  <a:srgbClr val="0070C0"/>
                </a:solidFill>
              </a:rPr>
              <a:t>;</a:t>
            </a: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/>
              <a:t>• Insights- Warehouses with higher on-time delivery </a:t>
            </a:r>
            <a:br>
              <a:rPr lang="en-US" sz="2000" dirty="0"/>
            </a:br>
            <a:r>
              <a:rPr lang="en-US" sz="2000" dirty="0"/>
              <a:t>    percentages demonstrate better operational </a:t>
            </a:r>
            <a:br>
              <a:rPr lang="en-US" sz="2000" dirty="0"/>
            </a:br>
            <a:r>
              <a:rPr lang="en-US" sz="2000" dirty="0"/>
              <a:t>    efficiency.</a:t>
            </a:r>
            <a:endParaRPr lang="en-US" sz="2000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EA4DC4-D643-4536-B100-C058141D3D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955" y="1232451"/>
            <a:ext cx="6286775" cy="2862471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3EC7212-034F-40B2-9897-DE8CF96408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5672353"/>
              </p:ext>
            </p:extLst>
          </p:nvPr>
        </p:nvGraphicFramePr>
        <p:xfrm>
          <a:off x="5785955" y="4114800"/>
          <a:ext cx="6247018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06526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CF54-E14B-41F3-A439-2A80DC19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" y="1"/>
            <a:ext cx="11979965" cy="424069"/>
          </a:xfrm>
        </p:spPr>
        <p:txBody>
          <a:bodyPr anchor="t">
            <a:normAutofit/>
          </a:bodyPr>
          <a:lstStyle/>
          <a:p>
            <a:pPr algn="ctr"/>
            <a:r>
              <a:rPr lang="en-US" sz="2400" b="1" dirty="0">
                <a:latin typeface="+mn-lt"/>
                <a:ea typeface="+mn-ea"/>
                <a:cs typeface="+mn-cs"/>
              </a:rPr>
              <a:t>Task 5: Delivery Agent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1541-D774-4734-A107-B370974C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3" y="331305"/>
            <a:ext cx="11953460" cy="64339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Task 5.1 Rank agents (per route) by on-time delivery percentage</a:t>
            </a:r>
            <a:br>
              <a:rPr lang="en-US" sz="2200" b="1" dirty="0"/>
            </a:br>
            <a:br>
              <a:rPr lang="en-US" sz="2200" b="1" dirty="0"/>
            </a:br>
            <a:r>
              <a:rPr lang="en-US" sz="2400" dirty="0">
                <a:solidFill>
                  <a:srgbClr val="0070C0"/>
                </a:solidFill>
              </a:rPr>
              <a:t>• SELECT </a:t>
            </a:r>
            <a:r>
              <a:rPr lang="en-US" sz="2400" dirty="0" err="1">
                <a:solidFill>
                  <a:srgbClr val="0070C0"/>
                </a:solidFill>
              </a:rPr>
              <a:t>agent_id,route_id,on_time_percentage</a:t>
            </a:r>
            <a:r>
              <a:rPr lang="en-US" sz="2400" dirty="0">
                <a:solidFill>
                  <a:srgbClr val="0070C0"/>
                </a:solidFill>
              </a:rPr>
              <a:t>,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RANK() OVER(PARTITION BY </a:t>
            </a:r>
            <a:r>
              <a:rPr lang="en-US" sz="2400" dirty="0" err="1">
                <a:solidFill>
                  <a:srgbClr val="0070C0"/>
                </a:solidFill>
              </a:rPr>
              <a:t>route_id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ORDER BY </a:t>
            </a:r>
            <a:r>
              <a:rPr lang="en-US" sz="2400" dirty="0" err="1">
                <a:solidFill>
                  <a:srgbClr val="0070C0"/>
                </a:solidFill>
              </a:rPr>
              <a:t>on_time_percentage</a:t>
            </a:r>
            <a:r>
              <a:rPr lang="en-US" sz="2400" dirty="0">
                <a:solidFill>
                  <a:srgbClr val="0070C0"/>
                </a:solidFill>
              </a:rPr>
              <a:t> DESC) 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AS </a:t>
            </a:r>
            <a:r>
              <a:rPr lang="en-US" sz="2400" dirty="0" err="1">
                <a:solidFill>
                  <a:srgbClr val="0070C0"/>
                </a:solidFill>
              </a:rPr>
              <a:t>agent_rank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FROM </a:t>
            </a:r>
            <a:r>
              <a:rPr lang="en-US" sz="2400" dirty="0" err="1">
                <a:solidFill>
                  <a:srgbClr val="0070C0"/>
                </a:solidFill>
              </a:rPr>
              <a:t>delivery_agents</a:t>
            </a:r>
            <a:r>
              <a:rPr lang="en-US" sz="2400" dirty="0">
                <a:solidFill>
                  <a:srgbClr val="0070C0"/>
                </a:solidFill>
              </a:rPr>
              <a:t>;</a:t>
            </a: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000" dirty="0"/>
              <a:t>• Insights- Agents were ranked within each route based on on-time delivery percentage to identify </a:t>
            </a:r>
            <a:br>
              <a:rPr lang="en-US" sz="2000" dirty="0"/>
            </a:br>
            <a:r>
              <a:rPr lang="en-US" sz="2000" dirty="0"/>
              <a:t>   top-performing agents.</a:t>
            </a:r>
            <a:endParaRPr lang="en-US" sz="2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CB7F80-1FDF-4FF0-BCAA-32E943C6BF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103" y="1457739"/>
            <a:ext cx="6651687" cy="414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4489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CF54-E14B-41F3-A439-2A80DC19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" y="92766"/>
            <a:ext cx="11979965" cy="503582"/>
          </a:xfrm>
        </p:spPr>
        <p:txBody>
          <a:bodyPr anchor="t">
            <a:normAutofit/>
          </a:bodyPr>
          <a:lstStyle/>
          <a:p>
            <a:r>
              <a:rPr lang="en-US" sz="2200" b="1" dirty="0">
                <a:latin typeface="+mn-lt"/>
                <a:ea typeface="+mn-ea"/>
                <a:cs typeface="+mn-cs"/>
              </a:rPr>
              <a:t>Task 5.2 Find agents with on-time % &lt; 80%.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1541-D774-4734-A107-B370974C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3" y="331305"/>
            <a:ext cx="11953460" cy="6433929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sz="1800" dirty="0">
                <a:solidFill>
                  <a:srgbClr val="0070C0"/>
                </a:solidFill>
              </a:rPr>
            </a:br>
            <a:r>
              <a:rPr lang="en-US" sz="1800" dirty="0">
                <a:solidFill>
                  <a:srgbClr val="0070C0"/>
                </a:solidFill>
              </a:rPr>
              <a:t> </a:t>
            </a:r>
            <a:br>
              <a:rPr lang="en-US" sz="1800" dirty="0">
                <a:solidFill>
                  <a:srgbClr val="0070C0"/>
                </a:solidFill>
              </a:rPr>
            </a:br>
            <a:r>
              <a:rPr lang="en-US" sz="1800" dirty="0">
                <a:solidFill>
                  <a:srgbClr val="0070C0"/>
                </a:solidFill>
              </a:rPr>
              <a:t>• </a:t>
            </a:r>
            <a:r>
              <a:rPr lang="en-US" sz="2400" dirty="0">
                <a:solidFill>
                  <a:srgbClr val="0070C0"/>
                </a:solidFill>
              </a:rPr>
              <a:t>SELECT </a:t>
            </a:r>
            <a:r>
              <a:rPr lang="en-US" sz="2400" dirty="0" err="1">
                <a:solidFill>
                  <a:srgbClr val="0070C0"/>
                </a:solidFill>
              </a:rPr>
              <a:t>agent_id</a:t>
            </a:r>
            <a:r>
              <a:rPr lang="en-US" sz="2400" dirty="0">
                <a:solidFill>
                  <a:srgbClr val="0070C0"/>
                </a:solidFill>
              </a:rPr>
              <a:t>, </a:t>
            </a:r>
            <a:r>
              <a:rPr lang="en-US" sz="2400" dirty="0" err="1">
                <a:solidFill>
                  <a:srgbClr val="0070C0"/>
                </a:solidFill>
              </a:rPr>
              <a:t>route_id</a:t>
            </a:r>
            <a:r>
              <a:rPr lang="en-US" sz="2400" dirty="0">
                <a:solidFill>
                  <a:srgbClr val="0070C0"/>
                </a:solidFill>
              </a:rPr>
              <a:t>,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</a:t>
            </a:r>
            <a:r>
              <a:rPr lang="en-US" sz="2400" dirty="0" err="1">
                <a:solidFill>
                  <a:srgbClr val="0070C0"/>
                </a:solidFill>
              </a:rPr>
              <a:t>on_time_percentage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FROM </a:t>
            </a:r>
            <a:r>
              <a:rPr lang="en-US" sz="2400" dirty="0" err="1">
                <a:solidFill>
                  <a:srgbClr val="0070C0"/>
                </a:solidFill>
              </a:rPr>
              <a:t>delivery_agents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WHERE </a:t>
            </a:r>
            <a:r>
              <a:rPr lang="en-US" sz="2400" dirty="0" err="1">
                <a:solidFill>
                  <a:srgbClr val="0070C0"/>
                </a:solidFill>
              </a:rPr>
              <a:t>on_time_percentage</a:t>
            </a:r>
            <a:r>
              <a:rPr lang="en-US" sz="2400" dirty="0">
                <a:solidFill>
                  <a:srgbClr val="0070C0"/>
                </a:solidFill>
              </a:rPr>
              <a:t> &lt; 80;</a:t>
            </a: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/>
              <a:t>• Insights- Agents with on-time delivery </a:t>
            </a:r>
            <a:br>
              <a:rPr lang="en-US" sz="2400" dirty="0"/>
            </a:br>
            <a:r>
              <a:rPr lang="en-US" sz="2400" dirty="0"/>
              <a:t>   percentage below 80% were </a:t>
            </a:r>
            <a:br>
              <a:rPr lang="en-US" sz="2400" dirty="0"/>
            </a:br>
            <a:r>
              <a:rPr lang="en-US" sz="2400" dirty="0"/>
              <a:t>   identified as potential performance</a:t>
            </a:r>
            <a:br>
              <a:rPr lang="en-US" sz="2400" dirty="0"/>
            </a:br>
            <a:r>
              <a:rPr lang="en-US" sz="2400" dirty="0"/>
              <a:t>   risks.</a:t>
            </a:r>
            <a:endParaRPr lang="en-US" sz="2400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BE8F6F-ABC7-49A6-8A50-4DF2C88EF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7419" y="92766"/>
            <a:ext cx="6523275" cy="3419060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33302B8-D90A-4442-8F9C-070FD61037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352307"/>
              </p:ext>
            </p:extLst>
          </p:nvPr>
        </p:nvGraphicFramePr>
        <p:xfrm>
          <a:off x="5337419" y="3604591"/>
          <a:ext cx="6523275" cy="3253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83792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CF54-E14B-41F3-A439-2A80DC19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" y="1"/>
            <a:ext cx="11979965" cy="424069"/>
          </a:xfrm>
        </p:spPr>
        <p:txBody>
          <a:bodyPr anchor="t">
            <a:normAutofit/>
          </a:bodyPr>
          <a:lstStyle/>
          <a:p>
            <a:r>
              <a:rPr lang="en-US" sz="2200" b="1" dirty="0">
                <a:latin typeface="+mn-lt"/>
                <a:ea typeface="+mn-ea"/>
                <a:cs typeface="+mn-cs"/>
              </a:rPr>
              <a:t>Task 5.3 Compare average speed of top 5 vs bottom 5 agents using subqueries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1541-D774-4734-A107-B370974C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3" y="331305"/>
            <a:ext cx="11953460" cy="6433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70C0"/>
                </a:solidFill>
              </a:rPr>
              <a:t>• </a:t>
            </a:r>
            <a:r>
              <a:rPr lang="en-US" sz="1800" dirty="0">
                <a:solidFill>
                  <a:srgbClr val="0070C0"/>
                </a:solidFill>
              </a:rPr>
              <a:t>SELECT </a:t>
            </a:r>
            <a:br>
              <a:rPr lang="en-US" sz="1800" dirty="0">
                <a:solidFill>
                  <a:srgbClr val="0070C0"/>
                </a:solidFill>
              </a:rPr>
            </a:br>
            <a:r>
              <a:rPr lang="en-US" sz="1800" dirty="0">
                <a:solidFill>
                  <a:srgbClr val="0070C0"/>
                </a:solidFill>
              </a:rPr>
              <a:t>(SELECT AVG(</a:t>
            </a:r>
            <a:r>
              <a:rPr lang="en-US" sz="1800" dirty="0" err="1">
                <a:solidFill>
                  <a:srgbClr val="0070C0"/>
                </a:solidFill>
              </a:rPr>
              <a:t>avg_speed_km_hr</a:t>
            </a:r>
            <a:r>
              <a:rPr lang="en-US" sz="1800" dirty="0">
                <a:solidFill>
                  <a:srgbClr val="0070C0"/>
                </a:solidFill>
              </a:rPr>
              <a:t>) </a:t>
            </a:r>
            <a:br>
              <a:rPr lang="en-US" sz="1800" dirty="0">
                <a:solidFill>
                  <a:srgbClr val="0070C0"/>
                </a:solidFill>
              </a:rPr>
            </a:br>
            <a:r>
              <a:rPr lang="en-US" sz="1800" dirty="0">
                <a:solidFill>
                  <a:srgbClr val="0070C0"/>
                </a:solidFill>
              </a:rPr>
              <a:t>FROM</a:t>
            </a:r>
            <a:br>
              <a:rPr lang="en-US" sz="1800" dirty="0">
                <a:solidFill>
                  <a:srgbClr val="0070C0"/>
                </a:solidFill>
              </a:rPr>
            </a:br>
            <a:r>
              <a:rPr lang="en-US" sz="1800" dirty="0">
                <a:solidFill>
                  <a:srgbClr val="0070C0"/>
                </a:solidFill>
              </a:rPr>
              <a:t>(SELECT </a:t>
            </a:r>
            <a:r>
              <a:rPr lang="en-US" sz="1800" dirty="0" err="1">
                <a:solidFill>
                  <a:srgbClr val="0070C0"/>
                </a:solidFill>
              </a:rPr>
              <a:t>avg_speed_km_hr</a:t>
            </a:r>
            <a:r>
              <a:rPr lang="en-US" sz="1800" dirty="0">
                <a:solidFill>
                  <a:srgbClr val="0070C0"/>
                </a:solidFill>
              </a:rPr>
              <a:t> FROM </a:t>
            </a:r>
            <a:r>
              <a:rPr lang="en-US" sz="1800" dirty="0" err="1">
                <a:solidFill>
                  <a:srgbClr val="0070C0"/>
                </a:solidFill>
              </a:rPr>
              <a:t>delivery_agents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br>
              <a:rPr lang="en-US" sz="1800" dirty="0">
                <a:solidFill>
                  <a:srgbClr val="0070C0"/>
                </a:solidFill>
              </a:rPr>
            </a:br>
            <a:r>
              <a:rPr lang="en-US" sz="1800" dirty="0">
                <a:solidFill>
                  <a:srgbClr val="0070C0"/>
                </a:solidFill>
              </a:rPr>
              <a:t>ORDER BY </a:t>
            </a:r>
            <a:r>
              <a:rPr lang="en-US" sz="1800" dirty="0" err="1">
                <a:solidFill>
                  <a:srgbClr val="0070C0"/>
                </a:solidFill>
              </a:rPr>
              <a:t>avg_speed_km_hr</a:t>
            </a:r>
            <a:r>
              <a:rPr lang="en-US" sz="1800" dirty="0">
                <a:solidFill>
                  <a:srgbClr val="0070C0"/>
                </a:solidFill>
              </a:rPr>
              <a:t> DESC  LIMIT 5) AS </a:t>
            </a:r>
            <a:r>
              <a:rPr lang="en-US" sz="1800" dirty="0" err="1">
                <a:solidFill>
                  <a:srgbClr val="0070C0"/>
                </a:solidFill>
              </a:rPr>
              <a:t>top_agents</a:t>
            </a:r>
            <a:r>
              <a:rPr lang="en-US" sz="1800" dirty="0">
                <a:solidFill>
                  <a:srgbClr val="0070C0"/>
                </a:solidFill>
              </a:rPr>
              <a:t>)</a:t>
            </a:r>
            <a:br>
              <a:rPr lang="en-US" sz="1800" dirty="0">
                <a:solidFill>
                  <a:srgbClr val="0070C0"/>
                </a:solidFill>
              </a:rPr>
            </a:br>
            <a:r>
              <a:rPr lang="en-US" sz="1800" dirty="0">
                <a:solidFill>
                  <a:srgbClr val="0070C0"/>
                </a:solidFill>
              </a:rPr>
              <a:t>AS </a:t>
            </a:r>
            <a:r>
              <a:rPr lang="en-US" sz="1800" dirty="0" err="1">
                <a:solidFill>
                  <a:srgbClr val="0070C0"/>
                </a:solidFill>
              </a:rPr>
              <a:t>avg_top_speed</a:t>
            </a:r>
            <a:r>
              <a:rPr lang="en-US" sz="1800" dirty="0">
                <a:solidFill>
                  <a:srgbClr val="0070C0"/>
                </a:solidFill>
              </a:rPr>
              <a:t>,</a:t>
            </a:r>
            <a:br>
              <a:rPr lang="en-US" sz="1800" dirty="0">
                <a:solidFill>
                  <a:srgbClr val="0070C0"/>
                </a:solidFill>
              </a:rPr>
            </a:br>
            <a:r>
              <a:rPr lang="en-US" sz="1800" dirty="0">
                <a:solidFill>
                  <a:srgbClr val="0070C0"/>
                </a:solidFill>
              </a:rPr>
              <a:t>(SELECT AVG(</a:t>
            </a:r>
            <a:r>
              <a:rPr lang="en-US" sz="1800" dirty="0" err="1">
                <a:solidFill>
                  <a:srgbClr val="0070C0"/>
                </a:solidFill>
              </a:rPr>
              <a:t>avg_speed_km_hr</a:t>
            </a:r>
            <a:r>
              <a:rPr lang="en-US" sz="1800" dirty="0">
                <a:solidFill>
                  <a:srgbClr val="0070C0"/>
                </a:solidFill>
              </a:rPr>
              <a:t>) </a:t>
            </a:r>
            <a:br>
              <a:rPr lang="en-US" sz="1800" dirty="0">
                <a:solidFill>
                  <a:srgbClr val="0070C0"/>
                </a:solidFill>
              </a:rPr>
            </a:br>
            <a:r>
              <a:rPr lang="en-US" sz="1800" dirty="0">
                <a:solidFill>
                  <a:srgbClr val="0070C0"/>
                </a:solidFill>
              </a:rPr>
              <a:t>FROM </a:t>
            </a:r>
            <a:br>
              <a:rPr lang="en-US" sz="1800" dirty="0">
                <a:solidFill>
                  <a:srgbClr val="0070C0"/>
                </a:solidFill>
              </a:rPr>
            </a:br>
            <a:r>
              <a:rPr lang="en-US" sz="1800" dirty="0">
                <a:solidFill>
                  <a:srgbClr val="0070C0"/>
                </a:solidFill>
              </a:rPr>
              <a:t>(SELECT </a:t>
            </a:r>
            <a:r>
              <a:rPr lang="en-US" sz="1800" dirty="0" err="1">
                <a:solidFill>
                  <a:srgbClr val="0070C0"/>
                </a:solidFill>
              </a:rPr>
              <a:t>avg_speed_km_hr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br>
              <a:rPr lang="en-US" sz="1800" dirty="0">
                <a:solidFill>
                  <a:srgbClr val="0070C0"/>
                </a:solidFill>
              </a:rPr>
            </a:br>
            <a:r>
              <a:rPr lang="en-US" sz="1800" dirty="0">
                <a:solidFill>
                  <a:srgbClr val="0070C0"/>
                </a:solidFill>
              </a:rPr>
              <a:t>FROM </a:t>
            </a:r>
            <a:r>
              <a:rPr lang="en-US" sz="1800" dirty="0" err="1">
                <a:solidFill>
                  <a:srgbClr val="0070C0"/>
                </a:solidFill>
              </a:rPr>
              <a:t>delivery_agents</a:t>
            </a:r>
            <a:r>
              <a:rPr lang="en-US" sz="1800" dirty="0">
                <a:solidFill>
                  <a:srgbClr val="0070C0"/>
                </a:solidFill>
              </a:rPr>
              <a:t>  </a:t>
            </a:r>
            <a:br>
              <a:rPr lang="en-US" sz="1800" dirty="0">
                <a:solidFill>
                  <a:srgbClr val="0070C0"/>
                </a:solidFill>
              </a:rPr>
            </a:br>
            <a:r>
              <a:rPr lang="en-US" sz="1800" dirty="0">
                <a:solidFill>
                  <a:srgbClr val="0070C0"/>
                </a:solidFill>
              </a:rPr>
              <a:t>ORDER BY </a:t>
            </a:r>
            <a:r>
              <a:rPr lang="en-US" sz="1800" dirty="0" err="1">
                <a:solidFill>
                  <a:srgbClr val="0070C0"/>
                </a:solidFill>
              </a:rPr>
              <a:t>avg_speed_km_hr</a:t>
            </a:r>
            <a:r>
              <a:rPr lang="en-US" sz="1800" dirty="0">
                <a:solidFill>
                  <a:srgbClr val="0070C0"/>
                </a:solidFill>
              </a:rPr>
              <a:t> ASC  LIMIT 5) </a:t>
            </a:r>
            <a:br>
              <a:rPr lang="en-US" sz="1800" dirty="0">
                <a:solidFill>
                  <a:srgbClr val="0070C0"/>
                </a:solidFill>
              </a:rPr>
            </a:br>
            <a:r>
              <a:rPr lang="en-US" sz="1800" dirty="0">
                <a:solidFill>
                  <a:srgbClr val="0070C0"/>
                </a:solidFill>
              </a:rPr>
              <a:t>AS </a:t>
            </a:r>
            <a:r>
              <a:rPr lang="en-US" sz="1800" dirty="0" err="1">
                <a:solidFill>
                  <a:srgbClr val="0070C0"/>
                </a:solidFill>
              </a:rPr>
              <a:t>bottom_agents</a:t>
            </a:r>
            <a:r>
              <a:rPr lang="en-US" sz="1800" dirty="0">
                <a:solidFill>
                  <a:srgbClr val="0070C0"/>
                </a:solidFill>
              </a:rPr>
              <a:t>) AS </a:t>
            </a:r>
            <a:r>
              <a:rPr lang="en-US" sz="1800" dirty="0" err="1">
                <a:solidFill>
                  <a:srgbClr val="0070C0"/>
                </a:solidFill>
              </a:rPr>
              <a:t>avg_bottom_speed</a:t>
            </a:r>
            <a:r>
              <a:rPr lang="en-US" sz="1800" dirty="0">
                <a:solidFill>
                  <a:srgbClr val="0070C0"/>
                </a:solidFill>
              </a:rPr>
              <a:t>;</a:t>
            </a:r>
            <a:br>
              <a:rPr lang="en-US" sz="1800" dirty="0">
                <a:solidFill>
                  <a:srgbClr val="0070C0"/>
                </a:solidFill>
              </a:rPr>
            </a:br>
            <a:br>
              <a:rPr lang="en-US" sz="1800" dirty="0">
                <a:solidFill>
                  <a:srgbClr val="0070C0"/>
                </a:solidFill>
              </a:rPr>
            </a:br>
            <a:br>
              <a:rPr lang="en-US" sz="1800" dirty="0">
                <a:solidFill>
                  <a:srgbClr val="0070C0"/>
                </a:solidFill>
              </a:rPr>
            </a:br>
            <a:br>
              <a:rPr lang="en-US" sz="1800" dirty="0">
                <a:solidFill>
                  <a:srgbClr val="0070C0"/>
                </a:solidFill>
              </a:rPr>
            </a:br>
            <a:br>
              <a:rPr lang="en-US" sz="1800" dirty="0">
                <a:solidFill>
                  <a:srgbClr val="0070C0"/>
                </a:solidFill>
              </a:rPr>
            </a:br>
            <a:br>
              <a:rPr lang="en-US" sz="1800" dirty="0">
                <a:solidFill>
                  <a:srgbClr val="0070C0"/>
                </a:solidFill>
              </a:rPr>
            </a:br>
            <a:r>
              <a:rPr lang="en-US" sz="2000" dirty="0"/>
              <a:t>• Insights- Top-performing delivery agents maintain </a:t>
            </a:r>
            <a:br>
              <a:rPr lang="en-US" sz="2000" dirty="0"/>
            </a:br>
            <a:r>
              <a:rPr lang="en-US" sz="2000" dirty="0"/>
              <a:t>    significantly higher average speeds compared to </a:t>
            </a:r>
            <a:br>
              <a:rPr lang="en-US" sz="2000" dirty="0"/>
            </a:br>
            <a:r>
              <a:rPr lang="en-US" sz="2000" dirty="0"/>
              <a:t>    bottom-performing agents.</a:t>
            </a:r>
          </a:p>
          <a:p>
            <a:pPr marL="0" indent="0">
              <a:buNone/>
            </a:pPr>
            <a:r>
              <a:rPr lang="en-US" sz="2000" dirty="0"/>
              <a:t>    This difference may impact delivery efficiency and route </a:t>
            </a:r>
            <a:br>
              <a:rPr lang="en-US" sz="2000" dirty="0"/>
            </a:br>
            <a:r>
              <a:rPr lang="en-US" sz="2000" dirty="0"/>
              <a:t>    performance.</a:t>
            </a:r>
            <a:endParaRPr lang="en-US" sz="2000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99205C-868E-4ABD-AC8F-12E138A667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8192" y="589722"/>
            <a:ext cx="6334538" cy="3114260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E72E96B7-8427-43A5-9D76-E94D2093FA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9684421"/>
              </p:ext>
            </p:extLst>
          </p:nvPr>
        </p:nvGraphicFramePr>
        <p:xfrm>
          <a:off x="6467062" y="3869635"/>
          <a:ext cx="5115338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495595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CF54-E14B-41F3-A439-2A80DC19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" y="92765"/>
            <a:ext cx="11979965" cy="463826"/>
          </a:xfrm>
        </p:spPr>
        <p:txBody>
          <a:bodyPr anchor="t">
            <a:normAutofit/>
          </a:bodyPr>
          <a:lstStyle/>
          <a:p>
            <a:pPr algn="ctr"/>
            <a:r>
              <a:rPr lang="en-US" sz="2200" b="1" dirty="0">
                <a:latin typeface="+mn-lt"/>
                <a:ea typeface="+mn-ea"/>
                <a:cs typeface="+mn-cs"/>
              </a:rPr>
              <a:t>Task 6: Shipment Tracking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1541-D774-4734-A107-B370974C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3" y="331305"/>
            <a:ext cx="11953460" cy="6526694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sz="1800" b="1" dirty="0">
                <a:latin typeface="+mn-lt"/>
                <a:ea typeface="+mn-ea"/>
                <a:cs typeface="+mn-cs"/>
              </a:rPr>
            </a:br>
            <a:r>
              <a:rPr lang="en-US" sz="2200" b="1" dirty="0">
                <a:latin typeface="+mn-lt"/>
                <a:ea typeface="+mn-ea"/>
                <a:cs typeface="+mn-cs"/>
              </a:rPr>
              <a:t>Task 6.1- For each order, list the last checkpoint and time</a:t>
            </a:r>
            <a:br>
              <a:rPr lang="en-US" sz="2200" b="1" dirty="0">
                <a:latin typeface="+mn-lt"/>
                <a:ea typeface="+mn-ea"/>
                <a:cs typeface="+mn-cs"/>
              </a:rPr>
            </a:br>
            <a:br>
              <a:rPr lang="en-US" sz="2200" b="1" dirty="0">
                <a:latin typeface="+mn-lt"/>
                <a:ea typeface="+mn-ea"/>
                <a:cs typeface="+mn-cs"/>
              </a:rPr>
            </a:br>
            <a:br>
              <a:rPr lang="en-US" sz="2200" b="1" dirty="0">
                <a:latin typeface="+mn-lt"/>
                <a:ea typeface="+mn-ea"/>
                <a:cs typeface="+mn-cs"/>
              </a:rPr>
            </a:br>
            <a:br>
              <a:rPr lang="en-US" sz="2200" b="1" dirty="0">
                <a:latin typeface="+mn-lt"/>
                <a:ea typeface="+mn-ea"/>
                <a:cs typeface="+mn-cs"/>
              </a:rPr>
            </a:br>
            <a:r>
              <a:rPr lang="en-US" sz="2400" dirty="0">
                <a:solidFill>
                  <a:srgbClr val="0070C0"/>
                </a:solidFill>
              </a:rPr>
              <a:t>• SELECT </a:t>
            </a:r>
            <a:r>
              <a:rPr lang="en-US" sz="2400" dirty="0" err="1">
                <a:solidFill>
                  <a:srgbClr val="0070C0"/>
                </a:solidFill>
              </a:rPr>
              <a:t>order_id,MAX</a:t>
            </a:r>
            <a:r>
              <a:rPr lang="en-US" sz="2400" dirty="0">
                <a:solidFill>
                  <a:srgbClr val="0070C0"/>
                </a:solidFill>
              </a:rPr>
              <a:t>(</a:t>
            </a:r>
            <a:r>
              <a:rPr lang="en-US" sz="2400" dirty="0" err="1">
                <a:solidFill>
                  <a:srgbClr val="0070C0"/>
                </a:solidFill>
              </a:rPr>
              <a:t>checkpoint_time</a:t>
            </a:r>
            <a:r>
              <a:rPr lang="en-US" sz="2400" dirty="0">
                <a:solidFill>
                  <a:srgbClr val="0070C0"/>
                </a:solidFill>
              </a:rPr>
              <a:t>) 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AS </a:t>
            </a:r>
            <a:r>
              <a:rPr lang="en-US" sz="2400" dirty="0" err="1">
                <a:solidFill>
                  <a:srgbClr val="0070C0"/>
                </a:solidFill>
              </a:rPr>
              <a:t>last_checkpoint_time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FROM </a:t>
            </a:r>
            <a:r>
              <a:rPr lang="en-US" sz="2400" dirty="0" err="1">
                <a:solidFill>
                  <a:srgbClr val="0070C0"/>
                </a:solidFill>
              </a:rPr>
              <a:t>shipment_tracking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GROUP BY </a:t>
            </a:r>
            <a:r>
              <a:rPr lang="en-US" sz="2400" dirty="0" err="1">
                <a:solidFill>
                  <a:srgbClr val="0070C0"/>
                </a:solidFill>
              </a:rPr>
              <a:t>order_id</a:t>
            </a:r>
            <a:r>
              <a:rPr lang="en-US" sz="2400" dirty="0">
                <a:solidFill>
                  <a:srgbClr val="0070C0"/>
                </a:solidFill>
              </a:rPr>
              <a:t>;</a:t>
            </a: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/>
              <a:t>• Insights- The latest checkpoint time for each order was identified to track the most recent </a:t>
            </a:r>
            <a:br>
              <a:rPr lang="en-US" sz="2400" dirty="0"/>
            </a:br>
            <a:r>
              <a:rPr lang="en-US" sz="2400" dirty="0"/>
              <a:t>shipment location.</a:t>
            </a:r>
            <a:r>
              <a:rPr lang="en-US" sz="2400" dirty="0">
                <a:solidFill>
                  <a:srgbClr val="0070C0"/>
                </a:solidFill>
              </a:rPr>
              <a:t>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5AC0E8-2664-4DC2-86C5-6234D6FEA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198" y="1073427"/>
            <a:ext cx="6621775" cy="3882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1244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CF54-E14B-41F3-A439-2A80DC19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" y="1"/>
            <a:ext cx="11979965" cy="424069"/>
          </a:xfrm>
        </p:spPr>
        <p:txBody>
          <a:bodyPr anchor="t">
            <a:normAutofit/>
          </a:bodyPr>
          <a:lstStyle/>
          <a:p>
            <a:r>
              <a:rPr lang="en-US" sz="2200" b="1" dirty="0">
                <a:latin typeface="+mn-lt"/>
                <a:ea typeface="+mn-ea"/>
                <a:cs typeface="+mn-cs"/>
              </a:rPr>
              <a:t>Task 6.2 Find the most common delay reasons (excluding None)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1541-D774-4734-A107-B370974C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3" y="331305"/>
            <a:ext cx="11953460" cy="6433929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sz="1800" dirty="0">
                <a:solidFill>
                  <a:srgbClr val="0070C0"/>
                </a:solidFill>
              </a:rPr>
            </a:br>
            <a:br>
              <a:rPr lang="en-US" sz="18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• SELECT </a:t>
            </a:r>
            <a:r>
              <a:rPr lang="en-US" sz="2000" dirty="0" err="1">
                <a:solidFill>
                  <a:srgbClr val="0070C0"/>
                </a:solidFill>
              </a:rPr>
              <a:t>delay_reason</a:t>
            </a:r>
            <a:r>
              <a:rPr lang="en-US" sz="2000" dirty="0">
                <a:solidFill>
                  <a:srgbClr val="0070C0"/>
                </a:solidFill>
              </a:rPr>
              <a:t>,  COUNT(*) AS </a:t>
            </a:r>
            <a:r>
              <a:rPr lang="en-US" sz="2000" dirty="0" err="1">
                <a:solidFill>
                  <a:srgbClr val="0070C0"/>
                </a:solidFill>
              </a:rPr>
              <a:t>delay_count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   FROM </a:t>
            </a:r>
            <a:r>
              <a:rPr lang="en-US" sz="2000" dirty="0" err="1">
                <a:solidFill>
                  <a:srgbClr val="0070C0"/>
                </a:solidFill>
              </a:rPr>
              <a:t>shipment_tracking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   WHERE </a:t>
            </a:r>
            <a:r>
              <a:rPr lang="en-US" sz="2000" dirty="0" err="1">
                <a:solidFill>
                  <a:srgbClr val="0070C0"/>
                </a:solidFill>
              </a:rPr>
              <a:t>delay_reason</a:t>
            </a:r>
            <a:r>
              <a:rPr lang="en-US" sz="2000" dirty="0">
                <a:solidFill>
                  <a:srgbClr val="0070C0"/>
                </a:solidFill>
              </a:rPr>
              <a:t> &lt;&gt; 'None’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   GROUP BY </a:t>
            </a:r>
            <a:r>
              <a:rPr lang="en-US" sz="2000" dirty="0" err="1">
                <a:solidFill>
                  <a:srgbClr val="0070C0"/>
                </a:solidFill>
              </a:rPr>
              <a:t>delay_reason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   ORDER BY </a:t>
            </a:r>
            <a:r>
              <a:rPr lang="en-US" sz="2000" dirty="0" err="1">
                <a:solidFill>
                  <a:srgbClr val="0070C0"/>
                </a:solidFill>
              </a:rPr>
              <a:t>delay_count</a:t>
            </a:r>
            <a:r>
              <a:rPr lang="en-US" sz="2000" dirty="0">
                <a:solidFill>
                  <a:srgbClr val="0070C0"/>
                </a:solidFill>
              </a:rPr>
              <a:t> DESC;</a:t>
            </a: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                                                                                                             </a:t>
            </a: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/>
              <a:t>• Insights- Traffic and weather conditions are the most frequent causes of shipment delays.</a:t>
            </a:r>
            <a:r>
              <a:rPr lang="en-US" sz="2000" dirty="0">
                <a:solidFill>
                  <a:srgbClr val="0070C0"/>
                </a:solidFill>
              </a:rPr>
              <a:t>                                                                                                       </a:t>
            </a:r>
            <a:endParaRPr lang="en-US" sz="2200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D33971-4CB7-4DB3-AD04-2CC7BB566B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6" y="2358887"/>
            <a:ext cx="6427303" cy="3263347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EF9898A2-F038-4BBA-A42E-DAEAF51F87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0355899"/>
              </p:ext>
            </p:extLst>
          </p:nvPr>
        </p:nvGraphicFramePr>
        <p:xfrm>
          <a:off x="6652590" y="2358886"/>
          <a:ext cx="5380383" cy="32633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208485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CF54-E14B-41F3-A439-2A80DC19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" y="92765"/>
            <a:ext cx="11979965" cy="450573"/>
          </a:xfrm>
        </p:spPr>
        <p:txBody>
          <a:bodyPr anchor="t">
            <a:normAutofit fontScale="90000"/>
          </a:bodyPr>
          <a:lstStyle/>
          <a:p>
            <a:r>
              <a:rPr lang="en-US" sz="2800" b="1" dirty="0">
                <a:latin typeface="Arial" panose="020B0604020202020204" pitchFamily="34" charset="0"/>
              </a:rPr>
              <a:t>Task 6.3 Identify orders with &gt;2 delayed checkpoints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1541-D774-4734-A107-B370974C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3" y="543339"/>
            <a:ext cx="11953460" cy="6221895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sz="1800" dirty="0">
                <a:solidFill>
                  <a:srgbClr val="0070C0"/>
                </a:solidFill>
              </a:rPr>
            </a:br>
            <a:r>
              <a:rPr lang="en-US" sz="1800" dirty="0">
                <a:solidFill>
                  <a:srgbClr val="0070C0"/>
                </a:solidFill>
              </a:rPr>
              <a:t> •  </a:t>
            </a:r>
            <a:r>
              <a:rPr lang="en-US" sz="2400" dirty="0">
                <a:solidFill>
                  <a:srgbClr val="0070C0"/>
                </a:solidFill>
              </a:rPr>
              <a:t>SELECT 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 </a:t>
            </a:r>
            <a:r>
              <a:rPr lang="en-US" sz="2400" dirty="0" err="1">
                <a:solidFill>
                  <a:srgbClr val="0070C0"/>
                </a:solidFill>
              </a:rPr>
              <a:t>order_id</a:t>
            </a:r>
            <a:r>
              <a:rPr lang="en-US" sz="2400" dirty="0">
                <a:solidFill>
                  <a:srgbClr val="0070C0"/>
                </a:solidFill>
              </a:rPr>
              <a:t>,  COUNT(*) AS </a:t>
            </a:r>
            <a:r>
              <a:rPr lang="en-US" sz="2400" dirty="0" err="1">
                <a:solidFill>
                  <a:srgbClr val="0070C0"/>
                </a:solidFill>
              </a:rPr>
              <a:t>delayed_checkpoints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 FROM </a:t>
            </a:r>
            <a:r>
              <a:rPr lang="en-US" sz="2400" dirty="0" err="1">
                <a:solidFill>
                  <a:srgbClr val="0070C0"/>
                </a:solidFill>
              </a:rPr>
              <a:t>shipment_tracking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 WHERE </a:t>
            </a:r>
            <a:r>
              <a:rPr lang="en-US" sz="2400" dirty="0" err="1">
                <a:solidFill>
                  <a:srgbClr val="0070C0"/>
                </a:solidFill>
              </a:rPr>
              <a:t>delay_reason</a:t>
            </a:r>
            <a:r>
              <a:rPr lang="en-US" sz="2400" dirty="0">
                <a:solidFill>
                  <a:srgbClr val="0070C0"/>
                </a:solidFill>
              </a:rPr>
              <a:t> &lt;&gt; 'None’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 GROUP BY </a:t>
            </a:r>
            <a:r>
              <a:rPr lang="en-US" sz="2400" dirty="0" err="1">
                <a:solidFill>
                  <a:srgbClr val="0070C0"/>
                </a:solidFill>
              </a:rPr>
              <a:t>order_id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 HAVING COUNT(*) &gt; 2;</a:t>
            </a: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/>
              <a:t>• Insights- Orders with more than two delayed checkpoints indicate severe shipment   disruption during transit.</a:t>
            </a:r>
            <a:endParaRPr lang="en-US" sz="2400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AB90E4-7058-4C3F-BC74-8CE2F85F6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261" y="1506606"/>
            <a:ext cx="6868403" cy="384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0721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CF54-E14B-41F3-A439-2A80DC19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" y="1"/>
            <a:ext cx="11979965" cy="424069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sz="2800" b="1" dirty="0">
                <a:latin typeface="Arial" panose="020B0604020202020204" pitchFamily="34" charset="0"/>
              </a:rPr>
              <a:t>Task 7: Advanced KPI Reporting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1541-D774-4734-A107-B370974C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3" y="331305"/>
            <a:ext cx="11953460" cy="6433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Task 7.1 Average Delivery Delay per Region (</a:t>
            </a:r>
            <a:r>
              <a:rPr lang="en-US" sz="2200" b="1" dirty="0" err="1"/>
              <a:t>Start_Location</a:t>
            </a:r>
            <a:r>
              <a:rPr lang="en-US" sz="2200" b="1" dirty="0"/>
              <a:t>)</a:t>
            </a:r>
            <a:br>
              <a:rPr lang="en-US" sz="2200" b="1" dirty="0"/>
            </a:br>
            <a:br>
              <a:rPr lang="en-US" sz="2200" b="1" dirty="0"/>
            </a:br>
            <a:r>
              <a:rPr lang="en-US" sz="2200" dirty="0">
                <a:solidFill>
                  <a:srgbClr val="0070C0"/>
                </a:solidFill>
              </a:rPr>
              <a:t>• SELECT </a:t>
            </a:r>
            <a:br>
              <a:rPr lang="en-US" sz="2200" dirty="0">
                <a:solidFill>
                  <a:srgbClr val="0070C0"/>
                </a:solidFill>
              </a:rPr>
            </a:br>
            <a:r>
              <a:rPr lang="en-US" sz="2200" dirty="0" err="1">
                <a:solidFill>
                  <a:srgbClr val="0070C0"/>
                </a:solidFill>
              </a:rPr>
              <a:t>r.start_location</a:t>
            </a:r>
            <a:r>
              <a:rPr lang="en-US" sz="2200" dirty="0">
                <a:solidFill>
                  <a:srgbClr val="0070C0"/>
                </a:solidFill>
              </a:rPr>
              <a:t>, </a:t>
            </a:r>
            <a:br>
              <a:rPr lang="en-US" sz="2200" dirty="0">
                <a:solidFill>
                  <a:srgbClr val="0070C0"/>
                </a:solidFill>
              </a:rPr>
            </a:br>
            <a:r>
              <a:rPr lang="en-US" sz="2200" dirty="0">
                <a:solidFill>
                  <a:srgbClr val="0070C0"/>
                </a:solidFill>
              </a:rPr>
              <a:t>AVG(DATEDIFF(</a:t>
            </a:r>
            <a:r>
              <a:rPr lang="en-US" sz="2200" dirty="0" err="1">
                <a:solidFill>
                  <a:srgbClr val="0070C0"/>
                </a:solidFill>
              </a:rPr>
              <a:t>o.actual_delivery_date</a:t>
            </a:r>
            <a:r>
              <a:rPr lang="en-US" sz="2200" dirty="0">
                <a:solidFill>
                  <a:srgbClr val="0070C0"/>
                </a:solidFill>
              </a:rPr>
              <a:t>,</a:t>
            </a:r>
            <a:br>
              <a:rPr lang="en-US" sz="2200" dirty="0">
                <a:solidFill>
                  <a:srgbClr val="0070C0"/>
                </a:solidFill>
              </a:rPr>
            </a:br>
            <a:r>
              <a:rPr lang="en-US" sz="2200" dirty="0" err="1">
                <a:solidFill>
                  <a:srgbClr val="0070C0"/>
                </a:solidFill>
              </a:rPr>
              <a:t>o.expected_delivery_date</a:t>
            </a:r>
            <a:r>
              <a:rPr lang="en-US" sz="2200" dirty="0">
                <a:solidFill>
                  <a:srgbClr val="0070C0"/>
                </a:solidFill>
              </a:rPr>
              <a:t>)) </a:t>
            </a:r>
            <a:br>
              <a:rPr lang="en-US" sz="2200" dirty="0">
                <a:solidFill>
                  <a:srgbClr val="0070C0"/>
                </a:solidFill>
              </a:rPr>
            </a:br>
            <a:r>
              <a:rPr lang="en-US" sz="2200" dirty="0">
                <a:solidFill>
                  <a:srgbClr val="0070C0"/>
                </a:solidFill>
              </a:rPr>
              <a:t>AS </a:t>
            </a:r>
            <a:r>
              <a:rPr lang="en-US" sz="2200" dirty="0" err="1">
                <a:solidFill>
                  <a:srgbClr val="0070C0"/>
                </a:solidFill>
              </a:rPr>
              <a:t>avg_delivery_delay_days</a:t>
            </a:r>
            <a:br>
              <a:rPr lang="en-US" sz="2200" dirty="0">
                <a:solidFill>
                  <a:srgbClr val="0070C0"/>
                </a:solidFill>
              </a:rPr>
            </a:br>
            <a:r>
              <a:rPr lang="en-US" sz="2200" dirty="0">
                <a:solidFill>
                  <a:srgbClr val="0070C0"/>
                </a:solidFill>
              </a:rPr>
              <a:t>FROM orders o </a:t>
            </a:r>
            <a:br>
              <a:rPr lang="en-US" sz="2200" dirty="0">
                <a:solidFill>
                  <a:srgbClr val="0070C0"/>
                </a:solidFill>
              </a:rPr>
            </a:br>
            <a:r>
              <a:rPr lang="en-US" sz="2200" dirty="0">
                <a:solidFill>
                  <a:srgbClr val="0070C0"/>
                </a:solidFill>
              </a:rPr>
              <a:t>JOIN routes r</a:t>
            </a:r>
            <a:br>
              <a:rPr lang="en-US" sz="2200" dirty="0">
                <a:solidFill>
                  <a:srgbClr val="0070C0"/>
                </a:solidFill>
              </a:rPr>
            </a:br>
            <a:r>
              <a:rPr lang="en-US" sz="2200" dirty="0">
                <a:solidFill>
                  <a:srgbClr val="0070C0"/>
                </a:solidFill>
              </a:rPr>
              <a:t>ON </a:t>
            </a:r>
            <a:r>
              <a:rPr lang="en-US" sz="2200" dirty="0" err="1">
                <a:solidFill>
                  <a:srgbClr val="0070C0"/>
                </a:solidFill>
              </a:rPr>
              <a:t>o.route_id</a:t>
            </a:r>
            <a:r>
              <a:rPr lang="en-US" sz="2200" dirty="0">
                <a:solidFill>
                  <a:srgbClr val="0070C0"/>
                </a:solidFill>
              </a:rPr>
              <a:t> = </a:t>
            </a:r>
            <a:r>
              <a:rPr lang="en-US" sz="2200" dirty="0" err="1">
                <a:solidFill>
                  <a:srgbClr val="0070C0"/>
                </a:solidFill>
              </a:rPr>
              <a:t>r.route_id</a:t>
            </a:r>
            <a:br>
              <a:rPr lang="en-US" sz="2200" dirty="0">
                <a:solidFill>
                  <a:srgbClr val="0070C0"/>
                </a:solidFill>
              </a:rPr>
            </a:br>
            <a:r>
              <a:rPr lang="en-US" sz="2200" dirty="0">
                <a:solidFill>
                  <a:srgbClr val="0070C0"/>
                </a:solidFill>
              </a:rPr>
              <a:t>GROUP BY </a:t>
            </a:r>
            <a:r>
              <a:rPr lang="en-US" sz="2200" dirty="0" err="1">
                <a:solidFill>
                  <a:srgbClr val="0070C0"/>
                </a:solidFill>
              </a:rPr>
              <a:t>r.start_location</a:t>
            </a:r>
            <a:r>
              <a:rPr lang="en-US" sz="2200" dirty="0">
                <a:solidFill>
                  <a:srgbClr val="0070C0"/>
                </a:solidFill>
              </a:rPr>
              <a:t> ;</a:t>
            </a: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br>
              <a:rPr lang="en-US" sz="2200" dirty="0">
                <a:solidFill>
                  <a:srgbClr val="0070C0"/>
                </a:solidFill>
              </a:rPr>
            </a:br>
            <a:r>
              <a:rPr lang="en-US" sz="2200" dirty="0"/>
              <a:t>• Insights- Certain regions experience </a:t>
            </a:r>
            <a:br>
              <a:rPr lang="en-US" sz="2200" dirty="0"/>
            </a:br>
            <a:r>
              <a:rPr lang="en-US" sz="2200" dirty="0"/>
              <a:t>  higher delivery delays compared to</a:t>
            </a:r>
            <a:br>
              <a:rPr lang="en-US" sz="2200" dirty="0"/>
            </a:br>
            <a:r>
              <a:rPr lang="en-US" sz="2200" dirty="0"/>
              <a:t>  others, which may indicate route </a:t>
            </a:r>
            <a:br>
              <a:rPr lang="en-US" sz="2200" dirty="0"/>
            </a:br>
            <a:r>
              <a:rPr lang="en-US" sz="2200" dirty="0"/>
              <a:t>   congestion or operational challenges.</a:t>
            </a:r>
            <a:endParaRPr lang="en-US" sz="2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167E17-A306-49E9-9E55-48D7EA2DF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843" y="755374"/>
            <a:ext cx="6414051" cy="2857500"/>
          </a:xfrm>
          <a:prstGeom prst="rect">
            <a:avLst/>
          </a:prstGeom>
        </p:spPr>
      </p:pic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C71D049-F4AC-4615-BDE4-F011D9BA7A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81431474"/>
              </p:ext>
            </p:extLst>
          </p:nvPr>
        </p:nvGraphicFramePr>
        <p:xfrm>
          <a:off x="4704523" y="3717235"/>
          <a:ext cx="7487478" cy="30678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5417974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CF54-E14B-41F3-A439-2A80DC19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" y="1"/>
            <a:ext cx="11979965" cy="424069"/>
          </a:xfrm>
        </p:spPr>
        <p:txBody>
          <a:bodyPr anchor="t">
            <a:normAutofit/>
          </a:bodyPr>
          <a:lstStyle/>
          <a:p>
            <a:r>
              <a:rPr lang="en-US" sz="2200" b="1" dirty="0">
                <a:latin typeface="+mn-lt"/>
                <a:ea typeface="+mn-ea"/>
                <a:cs typeface="+mn-cs"/>
              </a:rPr>
              <a:t>Task 7.2 On-Time Delivery % = (Total On-Time Deliveries / Total Deliveries) * 100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1541-D774-4734-A107-B370974C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3" y="424070"/>
            <a:ext cx="11953460" cy="63411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70C0"/>
                </a:solidFill>
              </a:rPr>
              <a:t>• SELECT COUNT(*) AS </a:t>
            </a:r>
            <a:r>
              <a:rPr lang="en-US" sz="2000" dirty="0" err="1">
                <a:solidFill>
                  <a:srgbClr val="0070C0"/>
                </a:solidFill>
              </a:rPr>
              <a:t>total_deliveries</a:t>
            </a:r>
            <a:r>
              <a:rPr lang="en-US" sz="2000" dirty="0">
                <a:solidFill>
                  <a:srgbClr val="0070C0"/>
                </a:solidFill>
              </a:rPr>
              <a:t>,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SUM(</a:t>
            </a:r>
            <a:r>
              <a:rPr lang="en-US" sz="2000" dirty="0" err="1">
                <a:solidFill>
                  <a:srgbClr val="0070C0"/>
                </a:solidFill>
              </a:rPr>
              <a:t>actual_delivery_date</a:t>
            </a:r>
            <a:r>
              <a:rPr lang="en-US" sz="2000" dirty="0">
                <a:solidFill>
                  <a:srgbClr val="0070C0"/>
                </a:solidFill>
              </a:rPr>
              <a:t> &lt;= </a:t>
            </a:r>
            <a:r>
              <a:rPr lang="en-US" sz="2000" dirty="0" err="1">
                <a:solidFill>
                  <a:srgbClr val="0070C0"/>
                </a:solidFill>
              </a:rPr>
              <a:t>expected_delivery_date</a:t>
            </a:r>
            <a:r>
              <a:rPr lang="en-US" sz="2000" dirty="0">
                <a:solidFill>
                  <a:srgbClr val="0070C0"/>
                </a:solidFill>
              </a:rPr>
              <a:t>) AS </a:t>
            </a:r>
            <a:r>
              <a:rPr lang="en-US" sz="2000" dirty="0" err="1">
                <a:solidFill>
                  <a:srgbClr val="0070C0"/>
                </a:solidFill>
              </a:rPr>
              <a:t>on_time_deliveries</a:t>
            </a:r>
            <a:r>
              <a:rPr lang="en-US" sz="2000" dirty="0">
                <a:solidFill>
                  <a:srgbClr val="0070C0"/>
                </a:solidFill>
              </a:rPr>
              <a:t>,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(SUM(</a:t>
            </a:r>
            <a:r>
              <a:rPr lang="en-US" sz="2000" dirty="0" err="1">
                <a:solidFill>
                  <a:srgbClr val="0070C0"/>
                </a:solidFill>
              </a:rPr>
              <a:t>actual_delivery_date</a:t>
            </a:r>
            <a:r>
              <a:rPr lang="en-US" sz="2000" dirty="0">
                <a:solidFill>
                  <a:srgbClr val="0070C0"/>
                </a:solidFill>
              </a:rPr>
              <a:t> &lt;= </a:t>
            </a:r>
            <a:r>
              <a:rPr lang="en-US" sz="2000" dirty="0" err="1">
                <a:solidFill>
                  <a:srgbClr val="0070C0"/>
                </a:solidFill>
              </a:rPr>
              <a:t>expected_delivery_date</a:t>
            </a:r>
            <a:r>
              <a:rPr lang="en-US" sz="2000" dirty="0">
                <a:solidFill>
                  <a:srgbClr val="0070C0"/>
                </a:solidFill>
              </a:rPr>
              <a:t>) / COUNT(*)) * 100 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AS </a:t>
            </a:r>
            <a:r>
              <a:rPr lang="en-US" sz="2000" dirty="0" err="1">
                <a:solidFill>
                  <a:srgbClr val="0070C0"/>
                </a:solidFill>
              </a:rPr>
              <a:t>on_time_delivery_percentage</a:t>
            </a: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>
                <a:solidFill>
                  <a:srgbClr val="0070C0"/>
                </a:solidFill>
              </a:rPr>
              <a:t>FROM orders;</a:t>
            </a: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br>
              <a:rPr lang="en-US" sz="2000" dirty="0">
                <a:solidFill>
                  <a:srgbClr val="0070C0"/>
                </a:solidFill>
              </a:rPr>
            </a:br>
            <a:r>
              <a:rPr lang="en-US" sz="2000" dirty="0"/>
              <a:t>• Insights- Out of 300 total deliveries, 168 deliveries were completed on time,</a:t>
            </a:r>
          </a:p>
          <a:p>
            <a:pPr marL="0" indent="0">
              <a:buNone/>
            </a:pPr>
            <a:r>
              <a:rPr lang="en-US" sz="2000" dirty="0"/>
              <a:t>resulting in an on-time delivery rate of 56%, while 44% of shipments</a:t>
            </a:r>
          </a:p>
          <a:p>
            <a:pPr marL="0" indent="0">
              <a:buNone/>
            </a:pPr>
            <a:r>
              <a:rPr lang="en-US" sz="2000" dirty="0"/>
              <a:t>experienced delays.</a:t>
            </a:r>
            <a:endParaRPr lang="en-US" sz="2000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C7648B-B252-41DD-810B-2FA1B3D168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3" y="1835511"/>
            <a:ext cx="5910469" cy="3518282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0DD3423-DF4E-4A05-87B9-45A57672BF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4108412"/>
              </p:ext>
            </p:extLst>
          </p:nvPr>
        </p:nvGraphicFramePr>
        <p:xfrm>
          <a:off x="6467060" y="1981369"/>
          <a:ext cx="5261114" cy="35182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417558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CF54-E14B-41F3-A439-2A80DC19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" y="165653"/>
            <a:ext cx="11979965" cy="576469"/>
          </a:xfrm>
        </p:spPr>
        <p:txBody>
          <a:bodyPr anchor="t">
            <a:normAutofit/>
          </a:bodyPr>
          <a:lstStyle/>
          <a:p>
            <a:r>
              <a:rPr lang="en-US" sz="2400" b="1" dirty="0">
                <a:latin typeface="+mn-lt"/>
                <a:ea typeface="+mn-ea"/>
                <a:cs typeface="+mn-cs"/>
              </a:rPr>
              <a:t>Task 7.3 Average Traffic Delay per Route</a:t>
            </a:r>
            <a:r>
              <a:rPr lang="en-US" sz="2800" b="1" dirty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1541-D774-4734-A107-B370974C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3" y="331305"/>
            <a:ext cx="11953460" cy="6433929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sz="1800" dirty="0">
                <a:solidFill>
                  <a:srgbClr val="0070C0"/>
                </a:solidFill>
              </a:rPr>
            </a:br>
            <a:br>
              <a:rPr lang="en-US" sz="1800" dirty="0">
                <a:solidFill>
                  <a:srgbClr val="0070C0"/>
                </a:solidFill>
              </a:rPr>
            </a:br>
            <a:br>
              <a:rPr lang="en-US" sz="1800" dirty="0">
                <a:solidFill>
                  <a:srgbClr val="0070C0"/>
                </a:solidFill>
              </a:rPr>
            </a:br>
            <a:r>
              <a:rPr lang="en-US" sz="1800" dirty="0">
                <a:solidFill>
                  <a:srgbClr val="0070C0"/>
                </a:solidFill>
              </a:rPr>
              <a:t>• </a:t>
            </a:r>
            <a:r>
              <a:rPr lang="en-US" sz="2400" dirty="0">
                <a:solidFill>
                  <a:srgbClr val="0070C0"/>
                </a:solidFill>
              </a:rPr>
              <a:t>SELECT 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</a:t>
            </a:r>
            <a:r>
              <a:rPr lang="en-US" sz="2400" dirty="0" err="1">
                <a:solidFill>
                  <a:srgbClr val="0070C0"/>
                </a:solidFill>
              </a:rPr>
              <a:t>route_id</a:t>
            </a:r>
            <a:r>
              <a:rPr lang="en-US" sz="2400" dirty="0">
                <a:solidFill>
                  <a:srgbClr val="0070C0"/>
                </a:solidFill>
              </a:rPr>
              <a:t>, AVG(</a:t>
            </a:r>
            <a:r>
              <a:rPr lang="en-US" sz="2400" dirty="0" err="1">
                <a:solidFill>
                  <a:srgbClr val="0070C0"/>
                </a:solidFill>
              </a:rPr>
              <a:t>traffic_delay_min</a:t>
            </a:r>
            <a:r>
              <a:rPr lang="en-US" sz="2400" dirty="0">
                <a:solidFill>
                  <a:srgbClr val="0070C0"/>
                </a:solidFill>
              </a:rPr>
              <a:t>) 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AS </a:t>
            </a:r>
            <a:r>
              <a:rPr lang="en-US" sz="2400" dirty="0" err="1">
                <a:solidFill>
                  <a:srgbClr val="0070C0"/>
                </a:solidFill>
              </a:rPr>
              <a:t>avg_traffic_delay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FROM routes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   GROUP BY </a:t>
            </a:r>
            <a:r>
              <a:rPr lang="en-US" sz="2400" dirty="0" err="1">
                <a:solidFill>
                  <a:srgbClr val="0070C0"/>
                </a:solidFill>
              </a:rPr>
              <a:t>route_id</a:t>
            </a:r>
            <a:r>
              <a:rPr lang="en-US" sz="2400" dirty="0">
                <a:solidFill>
                  <a:srgbClr val="0070C0"/>
                </a:solidFill>
              </a:rPr>
              <a:t>;</a:t>
            </a: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/>
              <a:t>• Insights- Routes with higher average </a:t>
            </a:r>
            <a:br>
              <a:rPr lang="en-US" sz="2400" dirty="0"/>
            </a:br>
            <a:r>
              <a:rPr lang="en-US" sz="2400" dirty="0"/>
              <a:t>   traffic delays may require route </a:t>
            </a:r>
            <a:br>
              <a:rPr lang="en-US" sz="2400" dirty="0"/>
            </a:br>
            <a:r>
              <a:rPr lang="en-US" sz="2400" dirty="0"/>
              <a:t>   optimization or improved delivery </a:t>
            </a:r>
            <a:br>
              <a:rPr lang="en-US" sz="2400" dirty="0"/>
            </a:br>
            <a:r>
              <a:rPr lang="en-US" sz="2400" dirty="0"/>
              <a:t>   scheduling.</a:t>
            </a:r>
            <a:br>
              <a:rPr lang="en-US" sz="2400" dirty="0">
                <a:solidFill>
                  <a:srgbClr val="0070C0"/>
                </a:solidFill>
              </a:rPr>
            </a:br>
            <a:endParaRPr lang="en-US" sz="2400" dirty="0">
              <a:solidFill>
                <a:srgbClr val="0070C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DC29F-1ECD-4DA6-8859-6CA6A08D8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129" y="165653"/>
            <a:ext cx="6321287" cy="3273286"/>
          </a:xfrm>
          <a:prstGeom prst="rect">
            <a:avLst/>
          </a:prstGeom>
        </p:spPr>
      </p:pic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2DE2633-921B-47D3-94A9-0549C0AC79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1853113"/>
              </p:ext>
            </p:extLst>
          </p:nvPr>
        </p:nvGraphicFramePr>
        <p:xfrm>
          <a:off x="5367129" y="3491949"/>
          <a:ext cx="6414054" cy="32732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991793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CF54-E14B-41F3-A439-2A80DC19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" y="92766"/>
            <a:ext cx="11979965" cy="503582"/>
          </a:xfrm>
        </p:spPr>
        <p:txBody>
          <a:bodyPr anchor="t"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</a:rPr>
              <a:t>Key Insights 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1541-D774-4734-A107-B370974C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3" y="463826"/>
            <a:ext cx="11953460" cy="63014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• Certain routes show consistently high delivery delays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• Traffic and weather are major delay factors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• Some warehouses have higher processing times (bottlenecks)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• A group of delivery agents has low on-time performance (&lt;80%)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• Multiple delay checkpoints indicate severe shipment disruption</a:t>
            </a: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r>
              <a:rPr lang="en-US" b="1" dirty="0">
                <a:latin typeface="Arial" panose="020B0604020202020204" pitchFamily="34" charset="0"/>
                <a:ea typeface="+mj-ea"/>
                <a:cs typeface="+mj-cs"/>
              </a:rPr>
              <a:t>Recommendations:-</a:t>
            </a: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0070C0"/>
                </a:solidFill>
              </a:rPr>
              <a:t>• Optimize high-delay routes using better route planning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• Reduce traffic impact using real-time navigation systems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• Improve warehouse processing efficiency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• Provide training for low-performing delivery agents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70C0"/>
                </a:solidFill>
              </a:rPr>
              <a:t>• Monitor shipments with multiple delay checkpoints more closely</a:t>
            </a: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endParaRPr 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05942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CF54-E14B-41F3-A439-2A80DC19E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65" y="251790"/>
            <a:ext cx="11979965" cy="636105"/>
          </a:xfrm>
        </p:spPr>
        <p:txBody>
          <a:bodyPr anchor="t">
            <a:normAutofit/>
          </a:bodyPr>
          <a:lstStyle/>
          <a:p>
            <a:r>
              <a:rPr lang="en-US" sz="2800" b="1" dirty="0">
                <a:latin typeface="Arial" panose="020B0604020202020204" pitchFamily="34" charset="0"/>
              </a:rPr>
              <a:t>Final Conclusion 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21541-D774-4734-A107-B370974C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13" y="715616"/>
            <a:ext cx="11953460" cy="6049617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This project successfully analyzed logistics data using SQL to identify delays,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inefficiencies, and performance issues across routes, warehouses, and delivery agents.</a:t>
            </a: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The insights generated can help improve delivery efficiency, reduce delays,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and enhance overall logistics performance</a:t>
            </a:r>
            <a:r>
              <a:rPr lang="en-US" sz="2400" dirty="0">
                <a:solidFill>
                  <a:srgbClr val="0070C0"/>
                </a:solidFill>
              </a:rPr>
              <a:t>.</a:t>
            </a: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br>
              <a:rPr lang="en-US" sz="2400" dirty="0">
                <a:solidFill>
                  <a:srgbClr val="0070C0"/>
                </a:solidFill>
              </a:rPr>
            </a:br>
            <a:r>
              <a:rPr lang="en-US" b="1" dirty="0">
                <a:latin typeface="Arial" panose="020B0604020202020204" pitchFamily="34" charset="0"/>
                <a:ea typeface="+mj-ea"/>
                <a:cs typeface="+mj-cs"/>
              </a:rPr>
              <a:t>Video Explanation link</a:t>
            </a:r>
            <a:br>
              <a:rPr lang="en-US" sz="2400" dirty="0">
                <a:solidFill>
                  <a:srgbClr val="0070C0"/>
                </a:solidFill>
              </a:rPr>
            </a:br>
            <a:r>
              <a:rPr lang="pt-BR" sz="2400" dirty="0">
                <a:solidFill>
                  <a:srgbClr val="0070C0"/>
                </a:solidFill>
                <a:hlinkClick r:id="rId2"/>
              </a:rPr>
              <a:t>https://www.loom.com/share/94d5e8e3d5ae43d2b9775877613f55ac</a:t>
            </a:r>
            <a:endParaRPr 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628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662</TotalTime>
  <Words>2896</Words>
  <Application>Microsoft Office PowerPoint</Application>
  <PresentationFormat>Widescreen</PresentationFormat>
  <Paragraphs>120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Bernard MT Condensed</vt:lpstr>
      <vt:lpstr>Britannic Bold</vt:lpstr>
      <vt:lpstr>Calibri</vt:lpstr>
      <vt:lpstr>Calibri Light</vt:lpstr>
      <vt:lpstr>Office Theme</vt:lpstr>
      <vt:lpstr>Logistics Optimization for Delivery Routes – Amazon</vt:lpstr>
      <vt:lpstr>Project Overview</vt:lpstr>
      <vt:lpstr>Dataset Description </vt:lpstr>
      <vt:lpstr> Task 1: Data Cleaning &amp; Preparation </vt:lpstr>
      <vt:lpstr>Task 1 SQL Queries + Results</vt:lpstr>
      <vt:lpstr>Insights:- Missing traffic delay values were replaced using the average traffic delay.</vt:lpstr>
      <vt:lpstr>Task 1.4 Ensure that no Actual_Delivery_Date is before Order_Date (flag such records).</vt:lpstr>
      <vt:lpstr>Task 2: Delivery Delay Analysis</vt:lpstr>
      <vt:lpstr>Task 2.1 Calculate delivery delay (in days) for each order</vt:lpstr>
      <vt:lpstr>Task 2.2 Find Top 10 delayed routes based on average delay days</vt:lpstr>
      <vt:lpstr>Task 2.3 Use window functions to rank all orders by delay within each warehouse</vt:lpstr>
      <vt:lpstr>Task 3: Route Optimization Insights</vt:lpstr>
      <vt:lpstr>Task 3.1.3 Distance-to-time efficiency ratio: Distance_KM / Average_Travel_Time_Min.</vt:lpstr>
      <vt:lpstr>PowerPoint Presentation</vt:lpstr>
      <vt:lpstr>PowerPoint Presentation</vt:lpstr>
      <vt:lpstr>Task 4: Warehouse Performance </vt:lpstr>
      <vt:lpstr>Task 4.2: Calculate total vs. delayed shipments for each warehouse</vt:lpstr>
      <vt:lpstr>Task 4.3 Use CTEs to find bottleneck warehouses where processing time &gt; global average</vt:lpstr>
      <vt:lpstr>Task 4.4 Rank warehouses based on on-time delivery percentage</vt:lpstr>
      <vt:lpstr>Task 5: Delivery Agent Performance</vt:lpstr>
      <vt:lpstr>Task 5.2 Find agents with on-time % &lt; 80%.</vt:lpstr>
      <vt:lpstr>Task 5.3 Compare average speed of top 5 vs bottom 5 agents using subqueries</vt:lpstr>
      <vt:lpstr>Task 6: Shipment Tracking Analytics</vt:lpstr>
      <vt:lpstr>Task 6.2 Find the most common delay reasons (excluding None)</vt:lpstr>
      <vt:lpstr>Task 6.3 Identify orders with &gt;2 delayed checkpoints</vt:lpstr>
      <vt:lpstr>Task 7: Advanced KPI Reporting</vt:lpstr>
      <vt:lpstr>Task 7.2 On-Time Delivery % = (Total On-Time Deliveries / Total Deliveries) * 100</vt:lpstr>
      <vt:lpstr>Task 7.3 Average Traffic Delay per Route.</vt:lpstr>
      <vt:lpstr>Key Insights :-</vt:lpstr>
      <vt:lpstr>Final Conclusion :-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Logistics Optimization for Delivery Routes – Amazon</dc:title>
  <dc:creator>hp</dc:creator>
  <cp:lastModifiedBy>hp</cp:lastModifiedBy>
  <cp:revision>62</cp:revision>
  <dcterms:created xsi:type="dcterms:W3CDTF">2026-03-12T21:31:59Z</dcterms:created>
  <dcterms:modified xsi:type="dcterms:W3CDTF">2026-03-19T21:23:56Z</dcterms:modified>
</cp:coreProperties>
</file>